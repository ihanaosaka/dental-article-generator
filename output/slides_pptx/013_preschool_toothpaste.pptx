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828800" cy="548640"/>
          </a:xfrm>
          <a:prstGeom prst="rect">
            <a:avLst/>
          </a:prstGeom>
          <a:noFill/>
        </p:spPr>
        <p:txBody>
          <a:bodyPr wrap="square">
            <a:spAutoFit/>
          </a:bodyPr>
          <a:lstStyle/>
          <a:p>
            <a:pPr algn="l">
              <a:defRPr sz="2000" b="1">
                <a:solidFill>
                  <a:srgbClr val="26A69A"/>
                </a:solidFill>
                <a:latin typeface="Meiryo"/>
              </a:defRPr>
            </a:pPr>
            <a:r>
              <a:t>#013</a:t>
            </a:r>
          </a:p>
        </p:txBody>
      </p:sp>
      <p:sp>
        <p:nvSpPr>
          <p:cNvPr id="4" name="TextBox 3"/>
          <p:cNvSpPr txBox="1"/>
          <p:nvPr/>
        </p:nvSpPr>
        <p:spPr>
          <a:xfrm>
            <a:off x="731520" y="1645920"/>
            <a:ext cx="7680960" cy="1371600"/>
          </a:xfrm>
          <a:prstGeom prst="rect">
            <a:avLst/>
          </a:prstGeom>
          <a:noFill/>
        </p:spPr>
        <p:txBody>
          <a:bodyPr wrap="square">
            <a:spAutoFit/>
          </a:bodyPr>
          <a:lstStyle/>
          <a:p>
            <a:pPr algn="l">
              <a:defRPr sz="3200" b="1">
                <a:solidFill>
                  <a:srgbClr val="FFFFFF"/>
                </a:solidFill>
                <a:latin typeface="Meiryo"/>
              </a:defRPr>
            </a:pPr>
            <a:r>
              <a:t>子どもの歯みがき粉、どれを選べばいいの？</a:t>
            </a:r>
          </a:p>
        </p:txBody>
      </p:sp>
      <p:sp>
        <p:nvSpPr>
          <p:cNvPr id="5" name="TextBox 4"/>
          <p:cNvSpPr txBox="1"/>
          <p:nvPr/>
        </p:nvSpPr>
        <p:spPr>
          <a:xfrm>
            <a:off x="731520" y="3291840"/>
            <a:ext cx="7680960" cy="457200"/>
          </a:xfrm>
          <a:prstGeom prst="rect">
            <a:avLst/>
          </a:prstGeom>
          <a:noFill/>
        </p:spPr>
        <p:txBody>
          <a:bodyPr wrap="square">
            <a:spAutoFit/>
          </a:bodyPr>
          <a:lstStyle/>
          <a:p>
            <a:pPr algn="l">
              <a:defRPr sz="1400" b="0">
                <a:solidFill>
                  <a:srgbClr val="B0D0D8"/>
                </a:solidFill>
                <a:latin typeface="Meiryo"/>
              </a:defRPr>
            </a:pPr>
            <a:r>
              <a:t>対象: 3〜6歳のお子さんを持つ保護者  |  約2分50秒</a:t>
            </a:r>
          </a:p>
        </p:txBody>
      </p:sp>
      <p:sp>
        <p:nvSpPr>
          <p:cNvPr id="6" name="Rectangle 5"/>
          <p:cNvSpPr/>
          <p:nvPr/>
        </p:nvSpPr>
        <p:spPr>
          <a:xfrm>
            <a:off x="731520" y="3931920"/>
            <a:ext cx="1828800" cy="36576"/>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オープニング</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800" b="1">
                <a:solidFill>
                  <a:srgbClr val="1B5E7B"/>
                </a:solidFill>
                <a:latin typeface="Meiryo"/>
              </a:defRPr>
            </a:pPr>
            <a:r>
              <a:t>子どもの歯みがき粉 どれがいいの？</a:t>
            </a:r>
          </a:p>
        </p:txBody>
      </p:sp>
      <p:sp>
        <p:nvSpPr>
          <p:cNvPr id="5" name="Rectangle 4"/>
          <p:cNvSpPr/>
          <p:nvPr/>
        </p:nvSpPr>
        <p:spPr>
          <a:xfrm>
            <a:off x="548640" y="1828800"/>
            <a:ext cx="8046720" cy="22860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73152" cy="2286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7498079" cy="365760"/>
          </a:xfrm>
          <a:prstGeom prst="rect">
            <a:avLst/>
          </a:prstGeom>
          <a:noFill/>
        </p:spPr>
        <p:txBody>
          <a:bodyPr wrap="square">
            <a:spAutoFit/>
          </a:bodyPr>
          <a:lstStyle/>
          <a:p>
            <a:pPr algn="l">
              <a:defRPr sz="1200" b="1">
                <a:solidFill>
                  <a:srgbClr val="26A69A"/>
                </a:solidFill>
                <a:latin typeface="Meiryo"/>
              </a:defRPr>
            </a:pPr>
            <a:r>
              <a:t>視聴者からの質問</a:t>
            </a:r>
          </a:p>
        </p:txBody>
      </p:sp>
      <p:sp>
        <p:nvSpPr>
          <p:cNvPr id="8" name="TextBox 7"/>
          <p:cNvSpPr txBox="1"/>
          <p:nvPr/>
        </p:nvSpPr>
        <p:spPr>
          <a:xfrm>
            <a:off x="914400" y="2286000"/>
            <a:ext cx="7498079" cy="1645920"/>
          </a:xfrm>
          <a:prstGeom prst="rect">
            <a:avLst/>
          </a:prstGeom>
          <a:noFill/>
        </p:spPr>
        <p:txBody>
          <a:bodyPr wrap="square">
            <a:spAutoFit/>
          </a:bodyPr>
          <a:lstStyle/>
          <a:p>
            <a:pPr algn="l">
              <a:defRPr sz="1800" b="0">
                <a:solidFill>
                  <a:srgbClr val="333333"/>
                </a:solidFill>
                <a:latin typeface="Meiryo"/>
              </a:defRPr>
            </a:pPr>
            <a:r>
              <a:t>子どもの歯みがき粉を選ぶとき、</a:t>
            </a:r>
            <a:br/>
            <a:r>
              <a:t>フッ素入りのほうがいいとは聞くんですが、</a:t>
            </a:r>
            <a:br/>
            <a:r>
              <a:t>濃度もいろいろあって、どれを選べばいいかわかりません。</a:t>
            </a:r>
            <a:br/>
            <a:r>
              <a:t>飲み込んでしまうのも心配です……。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セクション1：結論から</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フッ素濃度1000ppmを選びましょう</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結論からお伝えすると、3歳以上のお子さんにはフッ素濃度1000ppmの歯みがき粉がおすすめです。</a:t>
            </a:r>
          </a:p>
          <a:p>
            <a:pPr>
              <a:spcAft>
                <a:spcPts val="800"/>
              </a:spcAft>
              <a:defRPr sz="1400">
                <a:solidFill>
                  <a:srgbClr val="333333"/>
                </a:solidFill>
                <a:latin typeface="Meiryo"/>
              </a:defRPr>
            </a:pPr>
            <a:r>
              <a:t>• これは、WHO（世界保健機関）やアメリカ小児歯科学会のガイドラインでも共通して推奨されている濃度です。</a:t>
            </a:r>
          </a:p>
          <a:p>
            <a:pPr>
              <a:spcAft>
                <a:spcPts val="800"/>
              </a:spcAft>
              <a:defRPr sz="1400">
                <a:solidFill>
                  <a:srgbClr val="333333"/>
                </a:solidFill>
                <a:latin typeface="Meiryo"/>
              </a:defRPr>
            </a:pPr>
            <a:r>
              <a:t>• 『子ども用だから低い濃度のほうが安心』と思うかもしれませんが、実は500ppm以下だとむし歯を防ぐ力が十分でない可能性があると研究で報告されています。</a:t>
            </a:r>
          </a:p>
          <a:p>
            <a:pPr>
              <a:spcAft>
                <a:spcPts val="800"/>
              </a:spcAft>
              <a:defRPr sz="1400">
                <a:solidFill>
                  <a:srgbClr val="333333"/>
                </a:solidFill>
                <a:latin typeface="Meiryo"/>
              </a:defRPr>
            </a:pPr>
            <a:r>
              <a:t>• 使う量をきちんと守れば、1000ppmでも安全性は高いとされていますので、安心してお使いいただけます。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「1000ppm → 効果あり」「500ppm以下 → 効果不十分の可能性」の比較図 / WHO・AAPDの推奨マーク</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セクション2：なぜ1000ppmが大切なの？</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濃度が低すぎるとむし歯を防ぐ力が弱い</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フッ素がむし歯を防いでくれる理由は、大きく3つあります。</a:t>
            </a:r>
          </a:p>
          <a:p>
            <a:pPr>
              <a:spcAft>
                <a:spcPts val="800"/>
              </a:spcAft>
              <a:defRPr sz="1400">
                <a:solidFill>
                  <a:srgbClr val="333333"/>
                </a:solidFill>
                <a:latin typeface="Meiryo"/>
              </a:defRPr>
            </a:pPr>
            <a:r>
              <a:t>• ひとつめは、歯の表面を酸に溶けにくくして歯を強くしてくれること。</a:t>
            </a:r>
          </a:p>
          <a:p>
            <a:pPr>
              <a:spcAft>
                <a:spcPts val="800"/>
              </a:spcAft>
              <a:defRPr sz="1400">
                <a:solidFill>
                  <a:srgbClr val="333333"/>
                </a:solidFill>
                <a:latin typeface="Meiryo"/>
              </a:defRPr>
            </a:pPr>
            <a:r>
              <a:t>• ふたつめは、食事で少し溶けた歯の表面をもとに戻す力をサポートしてくれること。</a:t>
            </a:r>
          </a:p>
          <a:p>
            <a:pPr>
              <a:spcAft>
                <a:spcPts val="800"/>
              </a:spcAft>
              <a:defRPr sz="1400">
                <a:solidFill>
                  <a:srgbClr val="333333"/>
                </a:solidFill>
                <a:latin typeface="Meiryo"/>
              </a:defRPr>
            </a:pPr>
            <a:r>
              <a:t>• みっつめは、むし歯菌のはたらきをおさえてくれることです。</a:t>
            </a:r>
          </a:p>
          <a:p>
            <a:pPr>
              <a:spcAft>
                <a:spcPts val="800"/>
              </a:spcAft>
              <a:defRPr sz="1400">
                <a:solidFill>
                  <a:srgbClr val="333333"/>
                </a:solidFill>
                <a:latin typeface="Meiryo"/>
              </a:defRPr>
            </a:pPr>
            <a:r>
              <a:t>• 世界中の研究をまとめた報告では、フッ素濃度1000ppm以上の歯みがき粉はむし歯予防に明確な効果がある一方、500ppm以下では効果が十分に確認されていない、と…</a:t>
            </a:r>
          </a:p>
          <a:p>
            <a:pPr>
              <a:spcAft>
                <a:spcPts val="800"/>
              </a:spcAft>
              <a:defRPr sz="1400">
                <a:solidFill>
                  <a:srgbClr val="333333"/>
                </a:solidFill>
                <a:latin typeface="Meiryo"/>
              </a:defRPr>
            </a:pPr>
            <a:r>
              <a:t>• つまり、パッケージに『フッ素入り』とあっても、濃度が低すぎると期待する予防効果が得られない可能性があるんです。</a:t>
            </a:r>
          </a:p>
          <a:p>
            <a:pPr>
              <a:spcAft>
                <a:spcPts val="800"/>
              </a:spcAft>
              <a:defRPr sz="1400">
                <a:solidFill>
                  <a:srgbClr val="333333"/>
                </a:solidFill>
                <a:latin typeface="Meiryo"/>
              </a:defRPr>
            </a:pPr>
            <a:r>
              <a:t>• お店で選ぶときは、パッケージの裏面でフッ素濃度を確認してみてくださいね。</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フッ素の3つの働きをアイコンで表示（盾・修復・菌抑制） / 歯みがき粉パッケージの「フッ素濃度 ○○ppm」表示のイメージ</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セクション3：飲み込みが心配なときの対策</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量を守れば飲み込んでも大丈夫</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飲み込みが心配という声はとても多くいただきます。</a:t>
            </a:r>
          </a:p>
          <a:p>
            <a:pPr>
              <a:spcAft>
                <a:spcPts val="800"/>
              </a:spcAft>
              <a:defRPr sz="1400">
                <a:solidFill>
                  <a:srgbClr val="333333"/>
                </a:solidFill>
                <a:latin typeface="Meiryo"/>
              </a:defRPr>
            </a:pPr>
            <a:r>
              <a:t>• 研究では、使う量を適切に管理すれば、たとえ全部飲み込んでしまっても健康上のリスクは低いとされています。</a:t>
            </a:r>
          </a:p>
          <a:p>
            <a:pPr>
              <a:spcAft>
                <a:spcPts val="800"/>
              </a:spcAft>
              <a:defRPr sz="1400">
                <a:solidFill>
                  <a:srgbClr val="333333"/>
                </a:solidFill>
                <a:latin typeface="Meiryo"/>
              </a:defRPr>
            </a:pPr>
            <a:r>
              <a:t>• 3歳から6歳のお子さんには、グリーンピース1粒分くらいの量で十分です。少なく感じるかもしれませんが、この量でしっかり予防効果がありますよ。</a:t>
            </a:r>
          </a:p>
          <a:p>
            <a:pPr>
              <a:spcAft>
                <a:spcPts val="800"/>
              </a:spcAft>
              <a:defRPr sz="1400">
                <a:solidFill>
                  <a:srgbClr val="333333"/>
                </a:solidFill>
                <a:latin typeface="Meiryo"/>
              </a:defRPr>
            </a:pPr>
            <a:r>
              <a:t>• 大切なポイントは3つ。</a:t>
            </a:r>
          </a:p>
          <a:p>
            <a:pPr>
              <a:spcAft>
                <a:spcPts val="800"/>
              </a:spcAft>
              <a:defRPr sz="1400">
                <a:solidFill>
                  <a:srgbClr val="333333"/>
                </a:solidFill>
                <a:latin typeface="Meiryo"/>
              </a:defRPr>
            </a:pPr>
            <a:r>
              <a:t>• 歯みがき粉は必ず保護者の方が出してあげること。仕上げみがきを必ず大人がしてあげること。そして、歯みがき後のうがいは少量の水で1回だけにすることです。</a:t>
            </a:r>
          </a:p>
          <a:p>
            <a:pPr>
              <a:spcAft>
                <a:spcPts val="800"/>
              </a:spcAft>
              <a:defRPr sz="1400">
                <a:solidFill>
                  <a:srgbClr val="333333"/>
                </a:solidFill>
                <a:latin typeface="Meiryo"/>
              </a:defRPr>
            </a:pPr>
            <a:r>
              <a:t>• 何度もゆすぐと、せっかくのフッ素が洗い流されてしまうんです。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グリーンピース大の歯みがき粉のイメージ写真 / 3つのポイントをチェックリスト風に表示</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セクション4：おうちでできること</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歯みがき粉＋歯科でのフッ素塗布で予防力アップ</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おうちでのフッ素入り歯みがき粉に加えて、歯科医院でのフッ素塗布を併用すると、さらにむし歯予防の効果が高まることも研究で報告されています。</a:t>
            </a:r>
          </a:p>
          <a:p>
            <a:pPr>
              <a:spcAft>
                <a:spcPts val="800"/>
              </a:spcAft>
              <a:defRPr sz="1400">
                <a:solidFill>
                  <a:srgbClr val="333333"/>
                </a:solidFill>
                <a:latin typeface="Meiryo"/>
              </a:defRPr>
            </a:pPr>
            <a:r>
              <a:t>• 定期検診のときにフッ素塗布もあわせてお願いしてみてくださいね。</a:t>
            </a:r>
          </a:p>
          <a:p>
            <a:pPr>
              <a:spcAft>
                <a:spcPts val="800"/>
              </a:spcAft>
              <a:defRPr sz="1400">
                <a:solidFill>
                  <a:srgbClr val="333333"/>
                </a:solidFill>
                <a:latin typeface="Meiryo"/>
              </a:defRPr>
            </a:pPr>
            <a:r>
              <a:t>• お子さんに合った歯みがき粉選びで迷ったときは、お気軽にご相談ください。</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「毎日の歯みがき + 定期的なフッ素塗布」のイメージ図</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7680960" cy="731520"/>
          </a:xfrm>
          <a:prstGeom prst="rect">
            <a:avLst/>
          </a:prstGeom>
          <a:noFill/>
        </p:spPr>
        <p:txBody>
          <a:bodyPr wrap="square">
            <a:spAutoFit/>
          </a:bodyPr>
          <a:lstStyle/>
          <a:p>
            <a:pPr algn="l">
              <a:defRPr sz="2800" b="1">
                <a:solidFill>
                  <a:srgbClr val="FFFFFF"/>
                </a:solidFill>
                <a:latin typeface="Meiryo"/>
              </a:defRPr>
            </a:pPr>
            <a:r>
              <a:t>1000ppm × 豆粒大の量で安心予防</a:t>
            </a:r>
          </a:p>
        </p:txBody>
      </p:sp>
      <p:sp>
        <p:nvSpPr>
          <p:cNvPr id="4" name="TextBox 3"/>
          <p:cNvSpPr txBox="1"/>
          <p:nvPr/>
        </p:nvSpPr>
        <p:spPr>
          <a:xfrm>
            <a:off x="731520" y="2103120"/>
            <a:ext cx="7680960" cy="1371600"/>
          </a:xfrm>
          <a:prstGeom prst="rect">
            <a:avLst/>
          </a:prstGeom>
          <a:noFill/>
        </p:spPr>
        <p:txBody>
          <a:bodyPr wrap="square">
            <a:spAutoFit/>
          </a:bodyPr>
          <a:lstStyle/>
          <a:p>
            <a:pPr algn="l">
              <a:defRPr sz="1600" b="0">
                <a:solidFill>
                  <a:srgbClr val="CCE8ED"/>
                </a:solidFill>
                <a:latin typeface="Meiryo"/>
              </a:defRPr>
            </a:pPr>
            <a:r>
              <a:t>フッ素濃度1000ppmの歯みがき粉をグリーンピースくらいの量で。これが、お子さんの歯を守る基本です。</a:t>
            </a:r>
            <a:br/>
            <a:r>
              <a:t>ぜひ覚えておいてくださいね。</a:t>
            </a:r>
          </a:p>
        </p:txBody>
      </p:sp>
      <p:sp>
        <p:nvSpPr>
          <p:cNvPr id="5" name="TextBox 4"/>
          <p:cNvSpPr txBox="1"/>
          <p:nvPr/>
        </p:nvSpPr>
        <p:spPr>
          <a:xfrm>
            <a:off x="731520" y="3840480"/>
            <a:ext cx="7680960" cy="457200"/>
          </a:xfrm>
          <a:prstGeom prst="rect">
            <a:avLst/>
          </a:prstGeom>
          <a:noFill/>
        </p:spPr>
        <p:txBody>
          <a:bodyPr wrap="square">
            <a:spAutoFit/>
          </a:bodyPr>
          <a:lstStyle/>
          <a:p>
            <a:pPr algn="l">
              <a:defRPr sz="1400" b="1">
                <a:solidFill>
                  <a:srgbClr val="26A69A"/>
                </a:solidFill>
                <a:latin typeface="Meiryo"/>
              </a:defRPr>
            </a:pPr>
            <a:r>
              <a:t>クリニック情報・ご予約はこちら</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7680960" cy="548640"/>
          </a:xfrm>
          <a:prstGeom prst="rect">
            <a:avLst/>
          </a:prstGeom>
          <a:noFill/>
        </p:spPr>
        <p:txBody>
          <a:bodyPr wrap="square">
            <a:spAutoFit/>
          </a:bodyPr>
          <a:lstStyle/>
          <a:p>
            <a:pPr algn="l">
              <a:defRPr sz="1400" b="1">
                <a:solidFill>
                  <a:srgbClr val="26A69A"/>
                </a:solidFill>
                <a:latin typeface="Meiryo"/>
              </a:defRPr>
            </a:pPr>
            <a:r>
              <a:t>まとめ</a:t>
            </a:r>
          </a:p>
        </p:txBody>
      </p:sp>
      <p:sp>
        <p:nvSpPr>
          <p:cNvPr id="4" name="Rectangle 3"/>
          <p:cNvSpPr/>
          <p:nvPr/>
        </p:nvSpPr>
        <p:spPr>
          <a:xfrm>
            <a:off x="548640" y="1463040"/>
            <a:ext cx="8046720" cy="18288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73152" cy="18288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7498079" cy="365760"/>
          </a:xfrm>
          <a:prstGeom prst="rect">
            <a:avLst/>
          </a:prstGeom>
          <a:noFill/>
        </p:spPr>
        <p:txBody>
          <a:bodyPr wrap="square">
            <a:spAutoFit/>
          </a:bodyPr>
          <a:lstStyle/>
          <a:p>
            <a:pPr algn="l">
              <a:defRPr sz="1200" b="1">
                <a:solidFill>
                  <a:srgbClr val="26A69A"/>
                </a:solidFill>
                <a:latin typeface="Meiryo"/>
              </a:defRPr>
            </a:pPr>
            <a:r>
              <a:t>キーメッセージ</a:t>
            </a:r>
          </a:p>
        </p:txBody>
      </p:sp>
      <p:sp>
        <p:nvSpPr>
          <p:cNvPr id="7" name="TextBox 6"/>
          <p:cNvSpPr txBox="1"/>
          <p:nvPr/>
        </p:nvSpPr>
        <p:spPr>
          <a:xfrm>
            <a:off x="914400" y="1920240"/>
            <a:ext cx="7498079" cy="1188720"/>
          </a:xfrm>
          <a:prstGeom prst="rect">
            <a:avLst/>
          </a:prstGeom>
          <a:noFill/>
        </p:spPr>
        <p:txBody>
          <a:bodyPr wrap="square">
            <a:spAutoFit/>
          </a:bodyPr>
          <a:lstStyle/>
          <a:p>
            <a:pPr algn="l">
              <a:defRPr sz="2000" b="1">
                <a:solidFill>
                  <a:srgbClr val="1B5E7B"/>
                </a:solidFill>
                <a:latin typeface="Meiryo"/>
              </a:defRPr>
            </a:pPr>
            <a:r>
              <a:t>フッ素濃度1000ppmの歯みがき粉を、豆粒大の量で正しく使うことが大切。</a:t>
            </a:r>
          </a:p>
        </p:txBody>
      </p:sp>
      <p:sp>
        <p:nvSpPr>
          <p:cNvPr id="8" name="TextBox 7"/>
          <p:cNvSpPr txBox="1"/>
          <p:nvPr/>
        </p:nvSpPr>
        <p:spPr>
          <a:xfrm>
            <a:off x="731520" y="3840480"/>
            <a:ext cx="7680960" cy="457200"/>
          </a:xfrm>
          <a:prstGeom prst="rect">
            <a:avLst/>
          </a:prstGeom>
          <a:noFill/>
        </p:spPr>
        <p:txBody>
          <a:bodyPr wrap="square">
            <a:spAutoFit/>
          </a:bodyPr>
          <a:lstStyle/>
          <a:p>
            <a:pPr algn="l">
              <a:defRPr sz="1400" b="0">
                <a:solidFill>
                  <a:srgbClr val="555555"/>
                </a:solidFill>
                <a:latin typeface="Meiryo"/>
              </a:defRPr>
            </a:pPr>
            <a:r>
              <a:t>お問い合わせ: クリニック情報・ご予約方法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