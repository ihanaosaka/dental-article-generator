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B5E7B"/>
        </a:solidFill>
        <a:effectLst/>
      </p:bgPr>
    </p:bg>
    <p:spTree>
      <p:nvGrpSpPr>
        <p:cNvPr id="1" name=""/>
        <p:cNvGrpSpPr/>
        <p:nvPr/>
      </p:nvGrpSpPr>
      <p:grpSpPr/>
      <p:sp>
        <p:nvSpPr>
          <p:cNvPr id="2" name="Rectangle 1"/>
          <p:cNvSpPr/>
          <p:nvPr/>
        </p:nvSpPr>
        <p:spPr>
          <a:xfrm>
            <a:off x="0" y="0"/>
            <a:ext cx="9144000" cy="73152"/>
          </a:xfrm>
          <a:prstGeom prst="rect">
            <a:avLst/>
          </a:prstGeom>
          <a:solidFill>
            <a:srgbClr val="26A6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097280"/>
            <a:ext cx="1828800" cy="548640"/>
          </a:xfrm>
          <a:prstGeom prst="rect">
            <a:avLst/>
          </a:prstGeom>
          <a:noFill/>
        </p:spPr>
        <p:txBody>
          <a:bodyPr wrap="square">
            <a:spAutoFit/>
          </a:bodyPr>
          <a:lstStyle/>
          <a:p>
            <a:pPr algn="l">
              <a:defRPr sz="2000" b="1">
                <a:solidFill>
                  <a:srgbClr val="26A69A"/>
                </a:solidFill>
                <a:latin typeface="Meiryo"/>
              </a:defRPr>
            </a:pPr>
            <a:r>
              <a:t>#027</a:t>
            </a:r>
          </a:p>
        </p:txBody>
      </p:sp>
      <p:sp>
        <p:nvSpPr>
          <p:cNvPr id="4" name="TextBox 3"/>
          <p:cNvSpPr txBox="1"/>
          <p:nvPr/>
        </p:nvSpPr>
        <p:spPr>
          <a:xfrm>
            <a:off x="731520" y="1645920"/>
            <a:ext cx="7680960" cy="1371600"/>
          </a:xfrm>
          <a:prstGeom prst="rect">
            <a:avLst/>
          </a:prstGeom>
          <a:noFill/>
        </p:spPr>
        <p:txBody>
          <a:bodyPr wrap="square">
            <a:spAutoFit/>
          </a:bodyPr>
          <a:lstStyle/>
          <a:p>
            <a:pPr algn="l">
              <a:defRPr sz="3200" b="1">
                <a:solidFill>
                  <a:srgbClr val="FFFFFF"/>
                </a:solidFill>
                <a:latin typeface="Meiryo"/>
              </a:defRPr>
            </a:pPr>
            <a:r>
              <a:t>砂糖とむし歯——「量より回数が大事」ってどういうこと？</a:t>
            </a:r>
          </a:p>
        </p:txBody>
      </p:sp>
      <p:sp>
        <p:nvSpPr>
          <p:cNvPr id="5" name="TextBox 4"/>
          <p:cNvSpPr txBox="1"/>
          <p:nvPr/>
        </p:nvSpPr>
        <p:spPr>
          <a:xfrm>
            <a:off x="731520" y="3291840"/>
            <a:ext cx="7680960" cy="457200"/>
          </a:xfrm>
          <a:prstGeom prst="rect">
            <a:avLst/>
          </a:prstGeom>
          <a:noFill/>
        </p:spPr>
        <p:txBody>
          <a:bodyPr wrap="square">
            <a:spAutoFit/>
          </a:bodyPr>
          <a:lstStyle/>
          <a:p>
            <a:pPr algn="l">
              <a:defRPr sz="1400" b="0">
                <a:solidFill>
                  <a:srgbClr val="B0D0D8"/>
                </a:solidFill>
                <a:latin typeface="Meiryo"/>
              </a:defRPr>
            </a:pPr>
            <a:r>
              <a:t>対象: お子さんの間食・甘い飲み物が気になる保護者  |  約2分50秒</a:t>
            </a:r>
          </a:p>
        </p:txBody>
      </p:sp>
      <p:sp>
        <p:nvSpPr>
          <p:cNvPr id="6" name="Rectangle 5"/>
          <p:cNvSpPr/>
          <p:nvPr/>
        </p:nvSpPr>
        <p:spPr>
          <a:xfrm>
            <a:off x="731520" y="3931920"/>
            <a:ext cx="1828800" cy="36576"/>
          </a:xfrm>
          <a:prstGeom prst="rect">
            <a:avLst/>
          </a:prstGeom>
          <a:solidFill>
            <a:srgbClr val="26A6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54864"/>
          </a:xfrm>
          <a:prstGeom prst="rect">
            <a:avLst/>
          </a:prstGeom>
          <a:solidFill>
            <a:srgbClr val="1B5E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680960" cy="365760"/>
          </a:xfrm>
          <a:prstGeom prst="rect">
            <a:avLst/>
          </a:prstGeom>
          <a:noFill/>
        </p:spPr>
        <p:txBody>
          <a:bodyPr wrap="square">
            <a:spAutoFit/>
          </a:bodyPr>
          <a:lstStyle/>
          <a:p>
            <a:pPr algn="l">
              <a:defRPr sz="1200" b="1">
                <a:solidFill>
                  <a:srgbClr val="26A69A"/>
                </a:solidFill>
                <a:latin typeface="Meiryo"/>
              </a:defRPr>
            </a:pPr>
            <a:r>
              <a:t>オープニング</a:t>
            </a:r>
          </a:p>
        </p:txBody>
      </p:sp>
      <p:sp>
        <p:nvSpPr>
          <p:cNvPr id="4" name="TextBox 3"/>
          <p:cNvSpPr txBox="1"/>
          <p:nvPr/>
        </p:nvSpPr>
        <p:spPr>
          <a:xfrm>
            <a:off x="731520" y="822960"/>
            <a:ext cx="7680960" cy="731520"/>
          </a:xfrm>
          <a:prstGeom prst="rect">
            <a:avLst/>
          </a:prstGeom>
          <a:noFill/>
        </p:spPr>
        <p:txBody>
          <a:bodyPr wrap="square">
            <a:spAutoFit/>
          </a:bodyPr>
          <a:lstStyle/>
          <a:p>
            <a:pPr algn="l">
              <a:defRPr sz="2800" b="1">
                <a:solidFill>
                  <a:srgbClr val="1B5E7B"/>
                </a:solidFill>
                <a:latin typeface="Meiryo"/>
              </a:defRPr>
            </a:pPr>
            <a:r>
              <a:t>砂糖とむし歯 量より回数？</a:t>
            </a:r>
          </a:p>
        </p:txBody>
      </p:sp>
      <p:sp>
        <p:nvSpPr>
          <p:cNvPr id="5" name="Rectangle 4"/>
          <p:cNvSpPr/>
          <p:nvPr/>
        </p:nvSpPr>
        <p:spPr>
          <a:xfrm>
            <a:off x="548640" y="1828800"/>
            <a:ext cx="8046720" cy="2286000"/>
          </a:xfrm>
          <a:prstGeom prst="rect">
            <a:avLst/>
          </a:prstGeom>
          <a:solidFill>
            <a:srgbClr val="E0F2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828800"/>
            <a:ext cx="73152" cy="2286000"/>
          </a:xfrm>
          <a:prstGeom prst="rect">
            <a:avLst/>
          </a:prstGeom>
          <a:solidFill>
            <a:srgbClr val="26A6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7498079" cy="365760"/>
          </a:xfrm>
          <a:prstGeom prst="rect">
            <a:avLst/>
          </a:prstGeom>
          <a:noFill/>
        </p:spPr>
        <p:txBody>
          <a:bodyPr wrap="square">
            <a:spAutoFit/>
          </a:bodyPr>
          <a:lstStyle/>
          <a:p>
            <a:pPr algn="l">
              <a:defRPr sz="1200" b="1">
                <a:solidFill>
                  <a:srgbClr val="26A69A"/>
                </a:solidFill>
                <a:latin typeface="Meiryo"/>
              </a:defRPr>
            </a:pPr>
            <a:r>
              <a:t>視聴者からの質問</a:t>
            </a:r>
          </a:p>
        </p:txBody>
      </p:sp>
      <p:sp>
        <p:nvSpPr>
          <p:cNvPr id="8" name="TextBox 7"/>
          <p:cNvSpPr txBox="1"/>
          <p:nvPr/>
        </p:nvSpPr>
        <p:spPr>
          <a:xfrm>
            <a:off x="914400" y="2286000"/>
            <a:ext cx="7498079" cy="1645920"/>
          </a:xfrm>
          <a:prstGeom prst="rect">
            <a:avLst/>
          </a:prstGeom>
          <a:noFill/>
        </p:spPr>
        <p:txBody>
          <a:bodyPr wrap="square">
            <a:spAutoFit/>
          </a:bodyPr>
          <a:lstStyle/>
          <a:p>
            <a:pPr algn="l">
              <a:defRPr sz="1800" b="0">
                <a:solidFill>
                  <a:srgbClr val="333333"/>
                </a:solidFill>
                <a:latin typeface="Meiryo"/>
              </a:defRPr>
            </a:pPr>
            <a:r>
              <a:t>おやつの量を減らせばむし歯にならないですか？</a:t>
            </a:r>
            <a:br/>
            <a:r>
              <a:t>少しなら何回食べても大丈夫でしょうか？</a:t>
            </a:r>
            <a:br/>
            <a:r>
              <a:t>どうすればむし歯を予防できるのか、</a:t>
            </a:r>
            <a:br/>
            <a:r>
              <a:t>教えてください……</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54864"/>
          </a:xfrm>
          <a:prstGeom prst="rect">
            <a:avLst/>
          </a:prstGeom>
          <a:solidFill>
            <a:srgbClr val="1B5E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680960" cy="365760"/>
          </a:xfrm>
          <a:prstGeom prst="rect">
            <a:avLst/>
          </a:prstGeom>
          <a:noFill/>
        </p:spPr>
        <p:txBody>
          <a:bodyPr wrap="square">
            <a:spAutoFit/>
          </a:bodyPr>
          <a:lstStyle/>
          <a:p>
            <a:pPr algn="l">
              <a:defRPr sz="1200" b="1">
                <a:solidFill>
                  <a:srgbClr val="26A69A"/>
                </a:solidFill>
                <a:latin typeface="Meiryo"/>
              </a:defRPr>
            </a:pPr>
            <a:r>
              <a:t>セクション1：結論から</a:t>
            </a:r>
          </a:p>
        </p:txBody>
      </p:sp>
      <p:sp>
        <p:nvSpPr>
          <p:cNvPr id="4" name="TextBox 3"/>
          <p:cNvSpPr txBox="1"/>
          <p:nvPr/>
        </p:nvSpPr>
        <p:spPr>
          <a:xfrm>
            <a:off x="731520" y="822960"/>
            <a:ext cx="7680960" cy="731520"/>
          </a:xfrm>
          <a:prstGeom prst="rect">
            <a:avLst/>
          </a:prstGeom>
          <a:noFill/>
        </p:spPr>
        <p:txBody>
          <a:bodyPr wrap="square">
            <a:spAutoFit/>
          </a:bodyPr>
          <a:lstStyle/>
          <a:p>
            <a:pPr algn="l">
              <a:defRPr sz="2400" b="1">
                <a:solidFill>
                  <a:srgbClr val="1B5E7B"/>
                </a:solidFill>
                <a:latin typeface="Meiryo"/>
              </a:defRPr>
            </a:pPr>
            <a:r>
              <a:t>むし歯予防のカギは「回数を減らすこと」</a:t>
            </a:r>
          </a:p>
        </p:txBody>
      </p:sp>
      <p:sp>
        <p:nvSpPr>
          <p:cNvPr id="5" name="TextBox 4"/>
          <p:cNvSpPr txBox="1"/>
          <p:nvPr/>
        </p:nvSpPr>
        <p:spPr>
          <a:xfrm>
            <a:off x="731520" y="1737360"/>
            <a:ext cx="7680960" cy="2560320"/>
          </a:xfrm>
          <a:prstGeom prst="rect">
            <a:avLst/>
          </a:prstGeom>
          <a:noFill/>
        </p:spPr>
        <p:txBody>
          <a:bodyPr wrap="square">
            <a:spAutoFit/>
          </a:bodyPr>
          <a:lstStyle/>
          <a:p>
            <a:pPr>
              <a:spcAft>
                <a:spcPts val="800"/>
              </a:spcAft>
              <a:defRPr sz="1400">
                <a:solidFill>
                  <a:srgbClr val="333333"/>
                </a:solidFill>
                <a:latin typeface="Meiryo"/>
              </a:defRPr>
            </a:pPr>
            <a:r>
              <a:t>• 結論からお伝えすると、むし歯のリスクを左右するのは砂糖の『量』だけではありません。砂糖を『口にする回数』がとても大きなカギを握っています。</a:t>
            </a:r>
          </a:p>
          <a:p>
            <a:pPr>
              <a:spcAft>
                <a:spcPts val="800"/>
              </a:spcAft>
              <a:defRPr sz="1400">
                <a:solidFill>
                  <a:srgbClr val="333333"/>
                </a:solidFill>
                <a:latin typeface="Meiryo"/>
              </a:defRPr>
            </a:pPr>
            <a:r>
              <a:t>• 少しの量でも何度も口にすると、歯を修復する時間が足りなくなり、むし歯が始まりやすくなるんです。</a:t>
            </a:r>
          </a:p>
          <a:p>
            <a:pPr>
              <a:spcAft>
                <a:spcPts val="800"/>
              </a:spcAft>
              <a:defRPr sz="1400">
                <a:solidFill>
                  <a:srgbClr val="333333"/>
                </a:solidFill>
                <a:latin typeface="Meiryo"/>
              </a:defRPr>
            </a:pPr>
            <a:r>
              <a:t>• つまり、おやつは『時間を決めてまとめて食べる』のが一番大切なポイントです。</a:t>
            </a:r>
          </a:p>
        </p:txBody>
      </p:sp>
      <p:sp>
        <p:nvSpPr>
          <p:cNvPr id="6" name="Rectangle 5"/>
          <p:cNvSpPr/>
          <p:nvPr/>
        </p:nvSpPr>
        <p:spPr>
          <a:xfrm>
            <a:off x="548640" y="4206240"/>
            <a:ext cx="8046720" cy="640080"/>
          </a:xfrm>
          <a:prstGeom prst="rect">
            <a:avLst/>
          </a:prstGeom>
          <a:solidFill>
            <a:srgbClr val="E0F2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4251960"/>
            <a:ext cx="7680960" cy="548640"/>
          </a:xfrm>
          <a:prstGeom prst="rect">
            <a:avLst/>
          </a:prstGeom>
          <a:noFill/>
        </p:spPr>
        <p:txBody>
          <a:bodyPr wrap="square">
            <a:spAutoFit/>
          </a:bodyPr>
          <a:lstStyle/>
          <a:p>
            <a:pPr algn="l">
              <a:defRPr sz="1100" b="0">
                <a:solidFill>
                  <a:srgbClr val="555555"/>
                </a:solidFill>
                <a:latin typeface="Meiryo"/>
              </a:defRPr>
            </a:pPr>
            <a:r>
              <a:t>演出: 「量」と「回数」を天秤にかけるイラスト / 「回数」側が重くなるアニメーション</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54864"/>
          </a:xfrm>
          <a:prstGeom prst="rect">
            <a:avLst/>
          </a:prstGeom>
          <a:solidFill>
            <a:srgbClr val="1B5E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680960" cy="365760"/>
          </a:xfrm>
          <a:prstGeom prst="rect">
            <a:avLst/>
          </a:prstGeom>
          <a:noFill/>
        </p:spPr>
        <p:txBody>
          <a:bodyPr wrap="square">
            <a:spAutoFit/>
          </a:bodyPr>
          <a:lstStyle/>
          <a:p>
            <a:pPr algn="l">
              <a:defRPr sz="1200" b="1">
                <a:solidFill>
                  <a:srgbClr val="26A69A"/>
                </a:solidFill>
                <a:latin typeface="Meiryo"/>
              </a:defRPr>
            </a:pPr>
            <a:r>
              <a:t>セクション2：なぜ回数が大事なの？</a:t>
            </a:r>
          </a:p>
        </p:txBody>
      </p:sp>
      <p:sp>
        <p:nvSpPr>
          <p:cNvPr id="4" name="TextBox 3"/>
          <p:cNvSpPr txBox="1"/>
          <p:nvPr/>
        </p:nvSpPr>
        <p:spPr>
          <a:xfrm>
            <a:off x="731520" y="822960"/>
            <a:ext cx="7680960" cy="731520"/>
          </a:xfrm>
          <a:prstGeom prst="rect">
            <a:avLst/>
          </a:prstGeom>
          <a:noFill/>
        </p:spPr>
        <p:txBody>
          <a:bodyPr wrap="square">
            <a:spAutoFit/>
          </a:bodyPr>
          <a:lstStyle/>
          <a:p>
            <a:pPr algn="l">
              <a:defRPr sz="2400" b="1">
                <a:solidFill>
                  <a:srgbClr val="1B5E7B"/>
                </a:solidFill>
                <a:latin typeface="Meiryo"/>
              </a:defRPr>
            </a:pPr>
            <a:r>
              <a:t>お口の中で起きている「攻撃と修復」のくり返し</a:t>
            </a:r>
          </a:p>
        </p:txBody>
      </p:sp>
      <p:sp>
        <p:nvSpPr>
          <p:cNvPr id="5" name="TextBox 4"/>
          <p:cNvSpPr txBox="1"/>
          <p:nvPr/>
        </p:nvSpPr>
        <p:spPr>
          <a:xfrm>
            <a:off x="731520" y="1737360"/>
            <a:ext cx="7680960" cy="2560320"/>
          </a:xfrm>
          <a:prstGeom prst="rect">
            <a:avLst/>
          </a:prstGeom>
          <a:noFill/>
        </p:spPr>
        <p:txBody>
          <a:bodyPr wrap="square">
            <a:spAutoFit/>
          </a:bodyPr>
          <a:lstStyle/>
          <a:p>
            <a:pPr>
              <a:spcAft>
                <a:spcPts val="800"/>
              </a:spcAft>
              <a:defRPr sz="1400">
                <a:solidFill>
                  <a:srgbClr val="333333"/>
                </a:solidFill>
                <a:latin typeface="Meiryo"/>
              </a:defRPr>
            </a:pPr>
            <a:r>
              <a:t>• お口の中では、砂糖を食べるたびにこんなことが起きています。</a:t>
            </a:r>
          </a:p>
          <a:p>
            <a:pPr>
              <a:spcAft>
                <a:spcPts val="800"/>
              </a:spcAft>
              <a:defRPr sz="1400">
                <a:solidFill>
                  <a:srgbClr val="333333"/>
                </a:solidFill>
                <a:latin typeface="Meiryo"/>
              </a:defRPr>
            </a:pPr>
            <a:r>
              <a:t>• まず、お口の中の細菌が砂糖を分解して酸を作ります。この酸が歯の表面を溶かします。</a:t>
            </a:r>
          </a:p>
          <a:p>
            <a:pPr>
              <a:spcAft>
                <a:spcPts val="800"/>
              </a:spcAft>
              <a:defRPr sz="1400">
                <a:solidFill>
                  <a:srgbClr val="333333"/>
                </a:solidFill>
                <a:latin typeface="Meiryo"/>
              </a:defRPr>
            </a:pPr>
            <a:r>
              <a:t>• でも安心してください。唾液には、酸を中和して溶けた部分を修復する力があります。</a:t>
            </a:r>
          </a:p>
          <a:p>
            <a:pPr>
              <a:spcAft>
                <a:spcPts val="800"/>
              </a:spcAft>
              <a:defRPr sz="1400">
                <a:solidFill>
                  <a:srgbClr val="333333"/>
                </a:solidFill>
                <a:latin typeface="Meiryo"/>
              </a:defRPr>
            </a:pPr>
            <a:r>
              <a:t>• つまり、食べた後に十分な時間があれば、唾液が歯を元に戻してくれるんです。</a:t>
            </a:r>
          </a:p>
          <a:p>
            <a:pPr>
              <a:spcAft>
                <a:spcPts val="800"/>
              </a:spcAft>
              <a:defRPr sz="1400">
                <a:solidFill>
                  <a:srgbClr val="333333"/>
                </a:solidFill>
                <a:latin typeface="Meiryo"/>
              </a:defRPr>
            </a:pPr>
            <a:r>
              <a:t>• ところが、1日に何度も甘いものを口にすると、修復が追いつかないまま次の攻撃が始まってしまいます。</a:t>
            </a:r>
          </a:p>
          <a:p>
            <a:pPr>
              <a:spcAft>
                <a:spcPts val="800"/>
              </a:spcAft>
              <a:defRPr sz="1400">
                <a:solidFill>
                  <a:srgbClr val="333333"/>
                </a:solidFill>
                <a:latin typeface="Meiryo"/>
              </a:defRPr>
            </a:pPr>
            <a:r>
              <a:t>• これがむし歯の始まりです。</a:t>
            </a:r>
          </a:p>
          <a:p>
            <a:pPr>
              <a:spcAft>
                <a:spcPts val="800"/>
              </a:spcAft>
              <a:defRPr sz="1400">
                <a:solidFill>
                  <a:srgbClr val="333333"/>
                </a:solidFill>
                <a:latin typeface="Meiryo"/>
              </a:defRPr>
            </a:pPr>
            <a:r>
              <a:t>• 壁の穴を修理している最中に次々と新しい穴が開いてしまうのを想像してみてください。修理する時間さえあれば大丈夫なのに、回数が多すぎると対応しきれなくなる。それが『…</a:t>
            </a:r>
          </a:p>
        </p:txBody>
      </p:sp>
      <p:sp>
        <p:nvSpPr>
          <p:cNvPr id="6" name="Rectangle 5"/>
          <p:cNvSpPr/>
          <p:nvPr/>
        </p:nvSpPr>
        <p:spPr>
          <a:xfrm>
            <a:off x="548640" y="4206240"/>
            <a:ext cx="8046720" cy="640080"/>
          </a:xfrm>
          <a:prstGeom prst="rect">
            <a:avLst/>
          </a:prstGeom>
          <a:solidFill>
            <a:srgbClr val="E0F2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4251960"/>
            <a:ext cx="7680960" cy="548640"/>
          </a:xfrm>
          <a:prstGeom prst="rect">
            <a:avLst/>
          </a:prstGeom>
          <a:noFill/>
        </p:spPr>
        <p:txBody>
          <a:bodyPr wrap="square">
            <a:spAutoFit/>
          </a:bodyPr>
          <a:lstStyle/>
          <a:p>
            <a:pPr algn="l">
              <a:defRPr sz="1100" b="0">
                <a:solidFill>
                  <a:srgbClr val="555555"/>
                </a:solidFill>
                <a:latin typeface="Meiryo"/>
              </a:defRPr>
            </a:pPr>
            <a:r>
              <a:t>演出: 「脱灰（溶ける）」と「再石灰化（修復）」のシーソーアニメーション / 壁の修理のたとえイラスト</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54864"/>
          </a:xfrm>
          <a:prstGeom prst="rect">
            <a:avLst/>
          </a:prstGeom>
          <a:solidFill>
            <a:srgbClr val="1B5E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680960" cy="365760"/>
          </a:xfrm>
          <a:prstGeom prst="rect">
            <a:avLst/>
          </a:prstGeom>
          <a:noFill/>
        </p:spPr>
        <p:txBody>
          <a:bodyPr wrap="square">
            <a:spAutoFit/>
          </a:bodyPr>
          <a:lstStyle/>
          <a:p>
            <a:pPr algn="l">
              <a:defRPr sz="1200" b="1">
                <a:solidFill>
                  <a:srgbClr val="26A69A"/>
                </a:solidFill>
                <a:latin typeface="Meiryo"/>
              </a:defRPr>
            </a:pPr>
            <a:r>
              <a:t>セクション3：実践アドバイス</a:t>
            </a:r>
          </a:p>
        </p:txBody>
      </p:sp>
      <p:sp>
        <p:nvSpPr>
          <p:cNvPr id="4" name="TextBox 3"/>
          <p:cNvSpPr txBox="1"/>
          <p:nvPr/>
        </p:nvSpPr>
        <p:spPr>
          <a:xfrm>
            <a:off x="731520" y="822960"/>
            <a:ext cx="7680960" cy="731520"/>
          </a:xfrm>
          <a:prstGeom prst="rect">
            <a:avLst/>
          </a:prstGeom>
          <a:noFill/>
        </p:spPr>
        <p:txBody>
          <a:bodyPr wrap="square">
            <a:spAutoFit/>
          </a:bodyPr>
          <a:lstStyle/>
          <a:p>
            <a:pPr algn="l">
              <a:defRPr sz="2400" b="1">
                <a:solidFill>
                  <a:srgbClr val="1B5E7B"/>
                </a:solidFill>
                <a:latin typeface="Meiryo"/>
              </a:defRPr>
            </a:pPr>
            <a:r>
              <a:t>おやつは「時間を決めて」がいちばんの予防</a:t>
            </a:r>
          </a:p>
        </p:txBody>
      </p:sp>
      <p:sp>
        <p:nvSpPr>
          <p:cNvPr id="5" name="TextBox 4"/>
          <p:cNvSpPr txBox="1"/>
          <p:nvPr/>
        </p:nvSpPr>
        <p:spPr>
          <a:xfrm>
            <a:off x="731520" y="1737360"/>
            <a:ext cx="7680960" cy="2560320"/>
          </a:xfrm>
          <a:prstGeom prst="rect">
            <a:avLst/>
          </a:prstGeom>
          <a:noFill/>
        </p:spPr>
        <p:txBody>
          <a:bodyPr wrap="square">
            <a:spAutoFit/>
          </a:bodyPr>
          <a:lstStyle/>
          <a:p>
            <a:pPr>
              <a:spcAft>
                <a:spcPts val="800"/>
              </a:spcAft>
              <a:defRPr sz="1400">
                <a:solidFill>
                  <a:srgbClr val="333333"/>
                </a:solidFill>
                <a:latin typeface="Meiryo"/>
              </a:defRPr>
            </a:pPr>
            <a:r>
              <a:t>• では、今日からできる3つのポイントをお伝えします。</a:t>
            </a:r>
          </a:p>
          <a:p>
            <a:pPr>
              <a:spcAft>
                <a:spcPts val="800"/>
              </a:spcAft>
              <a:defRPr sz="1400">
                <a:solidFill>
                  <a:srgbClr val="333333"/>
                </a:solidFill>
                <a:latin typeface="Meiryo"/>
              </a:defRPr>
            </a:pPr>
            <a:r>
              <a:t>• ひとつめ。おやつは1日1〜2回、時間を決めて食べましょう。ダラダラ食べ・ダラダラ飲みをやめるだけで、むし歯リスクは大きく下がります。</a:t>
            </a:r>
          </a:p>
          <a:p>
            <a:pPr>
              <a:spcAft>
                <a:spcPts val="800"/>
              </a:spcAft>
              <a:defRPr sz="1400">
                <a:solidFill>
                  <a:srgbClr val="333333"/>
                </a:solidFill>
                <a:latin typeface="Meiryo"/>
              </a:defRPr>
            </a:pPr>
            <a:r>
              <a:t>• ふたつめ。のどが渇いたら、水かお茶を。甘い飲み物を水筒に入れて少しずつ飲む習慣は、むし歯リスクをとても高めます。甘い飲み物はおやつの時間だけにしましょう。</a:t>
            </a:r>
          </a:p>
          <a:p>
            <a:pPr>
              <a:spcAft>
                <a:spcPts val="800"/>
              </a:spcAft>
              <a:defRPr sz="1400">
                <a:solidFill>
                  <a:srgbClr val="333333"/>
                </a:solidFill>
                <a:latin typeface="Meiryo"/>
              </a:defRPr>
            </a:pPr>
            <a:r>
              <a:t>• みっつめ。フッ素入りの歯みがき粉で毎日の歯みがきを。WHOは、全年齢でフッ素濃度1000ppm以上の歯みがき粉を推奨しています。</a:t>
            </a:r>
          </a:p>
        </p:txBody>
      </p:sp>
      <p:sp>
        <p:nvSpPr>
          <p:cNvPr id="6" name="Rectangle 5"/>
          <p:cNvSpPr/>
          <p:nvPr/>
        </p:nvSpPr>
        <p:spPr>
          <a:xfrm>
            <a:off x="548640" y="4206240"/>
            <a:ext cx="8046720" cy="640080"/>
          </a:xfrm>
          <a:prstGeom prst="rect">
            <a:avLst/>
          </a:prstGeom>
          <a:solidFill>
            <a:srgbClr val="E0F2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4251960"/>
            <a:ext cx="7680960" cy="548640"/>
          </a:xfrm>
          <a:prstGeom prst="rect">
            <a:avLst/>
          </a:prstGeom>
          <a:noFill/>
        </p:spPr>
        <p:txBody>
          <a:bodyPr wrap="square">
            <a:spAutoFit/>
          </a:bodyPr>
          <a:lstStyle/>
          <a:p>
            <a:pPr algn="l">
              <a:defRPr sz="1100" b="0">
                <a:solidFill>
                  <a:srgbClr val="555555"/>
                </a:solidFill>
                <a:latin typeface="Meiryo"/>
              </a:defRPr>
            </a:pPr>
            <a:r>
              <a:t>演出: 3つのポイントをチェックリスト風に表示 / ジュースに「×」、水・お茶に「○」のアイコン</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54864"/>
          </a:xfrm>
          <a:prstGeom prst="rect">
            <a:avLst/>
          </a:prstGeom>
          <a:solidFill>
            <a:srgbClr val="1B5E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680960" cy="365760"/>
          </a:xfrm>
          <a:prstGeom prst="rect">
            <a:avLst/>
          </a:prstGeom>
          <a:noFill/>
        </p:spPr>
        <p:txBody>
          <a:bodyPr wrap="square">
            <a:spAutoFit/>
          </a:bodyPr>
          <a:lstStyle/>
          <a:p>
            <a:pPr algn="l">
              <a:defRPr sz="1200" b="1">
                <a:solidFill>
                  <a:srgbClr val="26A69A"/>
                </a:solidFill>
                <a:latin typeface="Meiryo"/>
              </a:defRPr>
            </a:pPr>
            <a:r>
              <a:t>セクション4：おうちでできること</a:t>
            </a:r>
          </a:p>
        </p:txBody>
      </p:sp>
      <p:sp>
        <p:nvSpPr>
          <p:cNvPr id="4" name="TextBox 3"/>
          <p:cNvSpPr txBox="1"/>
          <p:nvPr/>
        </p:nvSpPr>
        <p:spPr>
          <a:xfrm>
            <a:off x="731520" y="822960"/>
            <a:ext cx="7680960" cy="731520"/>
          </a:xfrm>
          <a:prstGeom prst="rect">
            <a:avLst/>
          </a:prstGeom>
          <a:noFill/>
        </p:spPr>
        <p:txBody>
          <a:bodyPr wrap="square">
            <a:spAutoFit/>
          </a:bodyPr>
          <a:lstStyle/>
          <a:p>
            <a:pPr algn="l">
              <a:defRPr sz="2400" b="1">
                <a:solidFill>
                  <a:srgbClr val="1B5E7B"/>
                </a:solidFill>
                <a:latin typeface="Meiryo"/>
              </a:defRPr>
            </a:pPr>
            <a:r>
              <a:t>甘いものを「やめる」のではなく「食べ方を工夫する」</a:t>
            </a:r>
          </a:p>
        </p:txBody>
      </p:sp>
      <p:sp>
        <p:nvSpPr>
          <p:cNvPr id="5" name="TextBox 4"/>
          <p:cNvSpPr txBox="1"/>
          <p:nvPr/>
        </p:nvSpPr>
        <p:spPr>
          <a:xfrm>
            <a:off x="731520" y="1737360"/>
            <a:ext cx="7680960" cy="2560320"/>
          </a:xfrm>
          <a:prstGeom prst="rect">
            <a:avLst/>
          </a:prstGeom>
          <a:noFill/>
        </p:spPr>
        <p:txBody>
          <a:bodyPr wrap="square">
            <a:spAutoFit/>
          </a:bodyPr>
          <a:lstStyle/>
          <a:p>
            <a:pPr>
              <a:spcAft>
                <a:spcPts val="800"/>
              </a:spcAft>
              <a:defRPr sz="1400">
                <a:solidFill>
                  <a:srgbClr val="333333"/>
                </a:solidFill>
                <a:latin typeface="Meiryo"/>
              </a:defRPr>
            </a:pPr>
            <a:r>
              <a:t>• 甘いものを完全にやめる必要はありません。おやつはお子さんの楽しみであり、大切な栄養補給の機会でもあります。</a:t>
            </a:r>
          </a:p>
          <a:p>
            <a:pPr>
              <a:spcAft>
                <a:spcPts val="800"/>
              </a:spcAft>
              <a:defRPr sz="1400">
                <a:solidFill>
                  <a:srgbClr val="333333"/>
                </a:solidFill>
                <a:latin typeface="Meiryo"/>
              </a:defRPr>
            </a:pPr>
            <a:r>
              <a:t>• おやつと食事の間隔は2時間以上あけるのが目安です。</a:t>
            </a:r>
          </a:p>
          <a:p>
            <a:pPr>
              <a:spcAft>
                <a:spcPts val="800"/>
              </a:spcAft>
              <a:defRPr sz="1400">
                <a:solidFill>
                  <a:srgbClr val="333333"/>
                </a:solidFill>
                <a:latin typeface="Meiryo"/>
              </a:defRPr>
            </a:pPr>
            <a:r>
              <a:t>• 歯にくっつきやすいお菓子はおやつの時間にまとめて食べて、その後に水を飲む、歯みがきをする、そんな工夫をしてみてくださいね。</a:t>
            </a:r>
          </a:p>
        </p:txBody>
      </p:sp>
      <p:sp>
        <p:nvSpPr>
          <p:cNvPr id="6" name="Rectangle 5"/>
          <p:cNvSpPr/>
          <p:nvPr/>
        </p:nvSpPr>
        <p:spPr>
          <a:xfrm>
            <a:off x="548640" y="4206240"/>
            <a:ext cx="8046720" cy="640080"/>
          </a:xfrm>
          <a:prstGeom prst="rect">
            <a:avLst/>
          </a:prstGeom>
          <a:solidFill>
            <a:srgbClr val="E0F2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4251960"/>
            <a:ext cx="7680960" cy="548640"/>
          </a:xfrm>
          <a:prstGeom prst="rect">
            <a:avLst/>
          </a:prstGeom>
          <a:noFill/>
        </p:spPr>
        <p:txBody>
          <a:bodyPr wrap="square">
            <a:spAutoFit/>
          </a:bodyPr>
          <a:lstStyle/>
          <a:p>
            <a:pPr algn="l">
              <a:defRPr sz="1100" b="0">
                <a:solidFill>
                  <a:srgbClr val="555555"/>
                </a:solidFill>
                <a:latin typeface="Meiryo"/>
              </a:defRPr>
            </a:pPr>
            <a:r>
              <a:t>演出: 時計のイラスト（2時間の間隔） / おやつ後の水・歯みがきアイコン</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B5E7B"/>
        </a:solidFill>
        <a:effectLst/>
      </p:bgPr>
    </p:bg>
    <p:spTree>
      <p:nvGrpSpPr>
        <p:cNvPr id="1" name=""/>
        <p:cNvGrpSpPr/>
        <p:nvPr/>
      </p:nvGrpSpPr>
      <p:grpSpPr/>
      <p:sp>
        <p:nvSpPr>
          <p:cNvPr id="2" name="Rectangle 1"/>
          <p:cNvSpPr/>
          <p:nvPr/>
        </p:nvSpPr>
        <p:spPr>
          <a:xfrm>
            <a:off x="0" y="0"/>
            <a:ext cx="9144000" cy="73152"/>
          </a:xfrm>
          <a:prstGeom prst="rect">
            <a:avLst/>
          </a:prstGeom>
          <a:solidFill>
            <a:srgbClr val="26A6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097280"/>
            <a:ext cx="7680960" cy="731520"/>
          </a:xfrm>
          <a:prstGeom prst="rect">
            <a:avLst/>
          </a:prstGeom>
          <a:noFill/>
        </p:spPr>
        <p:txBody>
          <a:bodyPr wrap="square">
            <a:spAutoFit/>
          </a:bodyPr>
          <a:lstStyle/>
          <a:p>
            <a:pPr algn="l">
              <a:defRPr sz="2800" b="1">
                <a:solidFill>
                  <a:srgbClr val="FFFFFF"/>
                </a:solidFill>
                <a:latin typeface="Meiryo"/>
              </a:defRPr>
            </a:pPr>
            <a:r>
              <a:t>回数を減らして 歯を守ろう</a:t>
            </a:r>
          </a:p>
        </p:txBody>
      </p:sp>
      <p:sp>
        <p:nvSpPr>
          <p:cNvPr id="4" name="TextBox 3"/>
          <p:cNvSpPr txBox="1"/>
          <p:nvPr/>
        </p:nvSpPr>
        <p:spPr>
          <a:xfrm>
            <a:off x="731520" y="2103120"/>
            <a:ext cx="7680960" cy="1371600"/>
          </a:xfrm>
          <a:prstGeom prst="rect">
            <a:avLst/>
          </a:prstGeom>
          <a:noFill/>
        </p:spPr>
        <p:txBody>
          <a:bodyPr wrap="square">
            <a:spAutoFit/>
          </a:bodyPr>
          <a:lstStyle/>
          <a:p>
            <a:pPr algn="l">
              <a:defRPr sz="1600" b="0">
                <a:solidFill>
                  <a:srgbClr val="CCE8ED"/>
                </a:solidFill>
                <a:latin typeface="Meiryo"/>
              </a:defRPr>
            </a:pPr>
            <a:r>
              <a:t>むし歯予防で一番大切なのは、甘いものを口にする回数を減らすこと。</a:t>
            </a:r>
            <a:br/>
            <a:r>
              <a:t>時間を決めて食べる、そのシンプルな工夫がお子さんの歯を守ります。</a:t>
            </a:r>
          </a:p>
        </p:txBody>
      </p:sp>
      <p:sp>
        <p:nvSpPr>
          <p:cNvPr id="5" name="TextBox 4"/>
          <p:cNvSpPr txBox="1"/>
          <p:nvPr/>
        </p:nvSpPr>
        <p:spPr>
          <a:xfrm>
            <a:off x="731520" y="3840480"/>
            <a:ext cx="7680960" cy="457200"/>
          </a:xfrm>
          <a:prstGeom prst="rect">
            <a:avLst/>
          </a:prstGeom>
          <a:noFill/>
        </p:spPr>
        <p:txBody>
          <a:bodyPr wrap="square">
            <a:spAutoFit/>
          </a:bodyPr>
          <a:lstStyle/>
          <a:p>
            <a:pPr algn="l">
              <a:defRPr sz="1400" b="1">
                <a:solidFill>
                  <a:srgbClr val="26A69A"/>
                </a:solidFill>
                <a:latin typeface="Meiryo"/>
              </a:defRPr>
            </a:pPr>
            <a:r>
              <a:t>クリニック情報・ご予約はこちら</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54864"/>
          </a:xfrm>
          <a:prstGeom prst="rect">
            <a:avLst/>
          </a:prstGeom>
          <a:solidFill>
            <a:srgbClr val="1B5E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731520"/>
            <a:ext cx="7680960" cy="548640"/>
          </a:xfrm>
          <a:prstGeom prst="rect">
            <a:avLst/>
          </a:prstGeom>
          <a:noFill/>
        </p:spPr>
        <p:txBody>
          <a:bodyPr wrap="square">
            <a:spAutoFit/>
          </a:bodyPr>
          <a:lstStyle/>
          <a:p>
            <a:pPr algn="l">
              <a:defRPr sz="1400" b="1">
                <a:solidFill>
                  <a:srgbClr val="26A69A"/>
                </a:solidFill>
                <a:latin typeface="Meiryo"/>
              </a:defRPr>
            </a:pPr>
            <a:r>
              <a:t>まとめ</a:t>
            </a:r>
          </a:p>
        </p:txBody>
      </p:sp>
      <p:sp>
        <p:nvSpPr>
          <p:cNvPr id="4" name="Rectangle 3"/>
          <p:cNvSpPr/>
          <p:nvPr/>
        </p:nvSpPr>
        <p:spPr>
          <a:xfrm>
            <a:off x="548640" y="1463040"/>
            <a:ext cx="8046720" cy="1828800"/>
          </a:xfrm>
          <a:prstGeom prst="rect">
            <a:avLst/>
          </a:prstGeom>
          <a:solidFill>
            <a:srgbClr val="E0F2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1463040"/>
            <a:ext cx="73152" cy="1828800"/>
          </a:xfrm>
          <a:prstGeom prst="rect">
            <a:avLst/>
          </a:prstGeom>
          <a:solidFill>
            <a:srgbClr val="26A6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554480"/>
            <a:ext cx="7498079" cy="365760"/>
          </a:xfrm>
          <a:prstGeom prst="rect">
            <a:avLst/>
          </a:prstGeom>
          <a:noFill/>
        </p:spPr>
        <p:txBody>
          <a:bodyPr wrap="square">
            <a:spAutoFit/>
          </a:bodyPr>
          <a:lstStyle/>
          <a:p>
            <a:pPr algn="l">
              <a:defRPr sz="1200" b="1">
                <a:solidFill>
                  <a:srgbClr val="26A69A"/>
                </a:solidFill>
                <a:latin typeface="Meiryo"/>
              </a:defRPr>
            </a:pPr>
            <a:r>
              <a:t>キーメッセージ</a:t>
            </a:r>
          </a:p>
        </p:txBody>
      </p:sp>
      <p:sp>
        <p:nvSpPr>
          <p:cNvPr id="7" name="TextBox 6"/>
          <p:cNvSpPr txBox="1"/>
          <p:nvPr/>
        </p:nvSpPr>
        <p:spPr>
          <a:xfrm>
            <a:off x="914400" y="1920240"/>
            <a:ext cx="7498079" cy="1188720"/>
          </a:xfrm>
          <a:prstGeom prst="rect">
            <a:avLst/>
          </a:prstGeom>
          <a:noFill/>
        </p:spPr>
        <p:txBody>
          <a:bodyPr wrap="square">
            <a:spAutoFit/>
          </a:bodyPr>
          <a:lstStyle/>
          <a:p>
            <a:pPr algn="l">
              <a:defRPr sz="2000" b="1">
                <a:solidFill>
                  <a:srgbClr val="1B5E7B"/>
                </a:solidFill>
                <a:latin typeface="Meiryo"/>
              </a:defRPr>
            </a:pPr>
            <a:r>
              <a:t>砂糖の量だけでなく回数が大事。おやつは時間を決めて、ダラダラ食べを避けよう。</a:t>
            </a:r>
          </a:p>
        </p:txBody>
      </p:sp>
      <p:sp>
        <p:nvSpPr>
          <p:cNvPr id="8" name="TextBox 7"/>
          <p:cNvSpPr txBox="1"/>
          <p:nvPr/>
        </p:nvSpPr>
        <p:spPr>
          <a:xfrm>
            <a:off x="731520" y="3840480"/>
            <a:ext cx="7680960" cy="457200"/>
          </a:xfrm>
          <a:prstGeom prst="rect">
            <a:avLst/>
          </a:prstGeom>
          <a:noFill/>
        </p:spPr>
        <p:txBody>
          <a:bodyPr wrap="square">
            <a:spAutoFit/>
          </a:bodyPr>
          <a:lstStyle/>
          <a:p>
            <a:pPr algn="l">
              <a:defRPr sz="1400" b="0">
                <a:solidFill>
                  <a:srgbClr val="555555"/>
                </a:solidFill>
                <a:latin typeface="Meiryo"/>
              </a:defRPr>
            </a:pPr>
            <a:r>
              <a:t>お問い合わせ: クリニック情報・ご予約方法</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