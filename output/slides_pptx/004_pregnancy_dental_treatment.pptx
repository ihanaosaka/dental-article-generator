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828800" cy="548640"/>
          </a:xfrm>
          <a:prstGeom prst="rect">
            <a:avLst/>
          </a:prstGeom>
          <a:noFill/>
        </p:spPr>
        <p:txBody>
          <a:bodyPr wrap="square">
            <a:spAutoFit/>
          </a:bodyPr>
          <a:lstStyle/>
          <a:p>
            <a:pPr algn="l">
              <a:defRPr sz="2000" b="1">
                <a:solidFill>
                  <a:srgbClr val="26A69A"/>
                </a:solidFill>
                <a:latin typeface="Meiryo"/>
              </a:defRPr>
            </a:pPr>
            <a:r>
              <a:t>#004</a:t>
            </a:r>
          </a:p>
        </p:txBody>
      </p:sp>
      <p:sp>
        <p:nvSpPr>
          <p:cNvPr id="4" name="TextBox 3"/>
          <p:cNvSpPr txBox="1"/>
          <p:nvPr/>
        </p:nvSpPr>
        <p:spPr>
          <a:xfrm>
            <a:off x="731520" y="1645920"/>
            <a:ext cx="7680960" cy="1371600"/>
          </a:xfrm>
          <a:prstGeom prst="rect">
            <a:avLst/>
          </a:prstGeom>
          <a:noFill/>
        </p:spPr>
        <p:txBody>
          <a:bodyPr wrap="square">
            <a:spAutoFit/>
          </a:bodyPr>
          <a:lstStyle/>
          <a:p>
            <a:pPr algn="l">
              <a:defRPr sz="3200" b="1">
                <a:solidFill>
                  <a:srgbClr val="FFFFFF"/>
                </a:solidFill>
                <a:latin typeface="Meiryo"/>
              </a:defRPr>
            </a:pPr>
            <a:r>
              <a:t>妊娠中に歯医者さんに行っても大丈夫？</a:t>
            </a:r>
          </a:p>
        </p:txBody>
      </p:sp>
      <p:sp>
        <p:nvSpPr>
          <p:cNvPr id="5" name="TextBox 4"/>
          <p:cNvSpPr txBox="1"/>
          <p:nvPr/>
        </p:nvSpPr>
        <p:spPr>
          <a:xfrm>
            <a:off x="731520" y="3291840"/>
            <a:ext cx="7680960" cy="457200"/>
          </a:xfrm>
          <a:prstGeom prst="rect">
            <a:avLst/>
          </a:prstGeom>
          <a:noFill/>
        </p:spPr>
        <p:txBody>
          <a:bodyPr wrap="square">
            <a:spAutoFit/>
          </a:bodyPr>
          <a:lstStyle/>
          <a:p>
            <a:pPr algn="l">
              <a:defRPr sz="1400" b="0">
                <a:solidFill>
                  <a:srgbClr val="B0D0D8"/>
                </a:solidFill>
                <a:latin typeface="Meiryo"/>
              </a:defRPr>
            </a:pPr>
            <a:r>
              <a:t>対象: 妊娠中の方、妊娠を考えている方  |  約2分50秒</a:t>
            </a:r>
          </a:p>
        </p:txBody>
      </p:sp>
      <p:sp>
        <p:nvSpPr>
          <p:cNvPr id="6" name="Rectangle 5"/>
          <p:cNvSpPr/>
          <p:nvPr/>
        </p:nvSpPr>
        <p:spPr>
          <a:xfrm>
            <a:off x="731520" y="3931920"/>
            <a:ext cx="1828800" cy="36576"/>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オープニング</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800" b="1">
                <a:solidFill>
                  <a:srgbClr val="1B5E7B"/>
                </a:solidFill>
                <a:latin typeface="Meiryo"/>
              </a:defRPr>
            </a:pPr>
            <a:r>
              <a:t>妊娠中の歯科治療 大丈夫？</a:t>
            </a:r>
          </a:p>
        </p:txBody>
      </p:sp>
      <p:sp>
        <p:nvSpPr>
          <p:cNvPr id="5" name="Rectangle 4"/>
          <p:cNvSpPr/>
          <p:nvPr/>
        </p:nvSpPr>
        <p:spPr>
          <a:xfrm>
            <a:off x="548640" y="1828800"/>
            <a:ext cx="8046720" cy="22860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73152" cy="2286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7498079" cy="365760"/>
          </a:xfrm>
          <a:prstGeom prst="rect">
            <a:avLst/>
          </a:prstGeom>
          <a:noFill/>
        </p:spPr>
        <p:txBody>
          <a:bodyPr wrap="square">
            <a:spAutoFit/>
          </a:bodyPr>
          <a:lstStyle/>
          <a:p>
            <a:pPr algn="l">
              <a:defRPr sz="1200" b="1">
                <a:solidFill>
                  <a:srgbClr val="26A69A"/>
                </a:solidFill>
                <a:latin typeface="Meiryo"/>
              </a:defRPr>
            </a:pPr>
            <a:r>
              <a:t>視聴者からの質問</a:t>
            </a:r>
          </a:p>
        </p:txBody>
      </p:sp>
      <p:sp>
        <p:nvSpPr>
          <p:cNvPr id="8" name="TextBox 7"/>
          <p:cNvSpPr txBox="1"/>
          <p:nvPr/>
        </p:nvSpPr>
        <p:spPr>
          <a:xfrm>
            <a:off x="914400" y="2286000"/>
            <a:ext cx="7498079" cy="1645920"/>
          </a:xfrm>
          <a:prstGeom prst="rect">
            <a:avLst/>
          </a:prstGeom>
          <a:noFill/>
        </p:spPr>
        <p:txBody>
          <a:bodyPr wrap="square">
            <a:spAutoFit/>
          </a:bodyPr>
          <a:lstStyle/>
          <a:p>
            <a:pPr algn="l">
              <a:defRPr sz="1800" b="0">
                <a:solidFill>
                  <a:srgbClr val="333333"/>
                </a:solidFill>
                <a:latin typeface="Meiryo"/>
              </a:defRPr>
            </a:pPr>
            <a:r>
              <a:t>今、妊娠中なんですが、歯が痛くて……。</a:t>
            </a:r>
            <a:br/>
            <a:r>
              <a:t>でも麻酔やレントゲンが赤ちゃんに影響しないか心配で、</a:t>
            </a:r>
            <a:br/>
            <a:r>
              <a:t>出産が終わるまで我慢したほうがいいですか？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セクション1：結論から</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妊娠中でも歯科治療は受けられます</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結論からお伝えすると、妊娠中の歯科治療は避けるべきものではありません。むしろ、痛みや腫れを我慢し続けるほうがお母さんの体にとってリスクになることがあります。</a:t>
            </a:r>
          </a:p>
          <a:p>
            <a:pPr>
              <a:spcAft>
                <a:spcPts val="800"/>
              </a:spcAft>
              <a:defRPr sz="1400">
                <a:solidFill>
                  <a:srgbClr val="333333"/>
                </a:solidFill>
                <a:latin typeface="Meiryo"/>
              </a:defRPr>
            </a:pPr>
            <a:r>
              <a:t>• 特におすすめの時期は安定期、だいたい妊娠5か月から7か月くらいです。つわりも落ち着いていて、お腹もまだそれほど大きくないので、治療を受けやすい時期なんですね。</a:t>
            </a:r>
          </a:p>
          <a:p>
            <a:pPr>
              <a:spcAft>
                <a:spcPts val="800"/>
              </a:spcAft>
              <a:defRPr sz="1400">
                <a:solidFill>
                  <a:srgbClr val="333333"/>
                </a:solidFill>
                <a:latin typeface="Meiryo"/>
              </a:defRPr>
            </a:pPr>
            <a:r>
              <a:t>• ただし、強い痛みや腫れがある場合は、時期に関係なく早めに受診してくださいね。</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妊娠タイムライン（初期・中期・後期）に「安定期がおすすめ」のマーク / 「我慢→リスクあり」「受診→安心」の比較表示</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セクション2：麻酔やレントゲンは安全なの？</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歯科の麻酔・レントゲンは赤ちゃんへの影響なし</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一番心配されるのが、麻酔とレントゲンではないでしょうか。</a:t>
            </a:r>
          </a:p>
          <a:p>
            <a:pPr>
              <a:spcAft>
                <a:spcPts val="800"/>
              </a:spcAft>
              <a:defRPr sz="1400">
                <a:solidFill>
                  <a:srgbClr val="333333"/>
                </a:solidFill>
                <a:latin typeface="Meiryo"/>
              </a:defRPr>
            </a:pPr>
            <a:r>
              <a:t>• まず、歯科の麻酔についてです。歯科で使う麻酔は、治療する部分だけに効く局所麻酔です。全身に広がるものではないので、通常の量であれば赤ちゃんへの影響は心配いりませ…</a:t>
            </a:r>
          </a:p>
          <a:p>
            <a:pPr>
              <a:spcAft>
                <a:spcPts val="800"/>
              </a:spcAft>
              <a:defRPr sz="1400">
                <a:solidFill>
                  <a:srgbClr val="333333"/>
                </a:solidFill>
                <a:latin typeface="Meiryo"/>
              </a:defRPr>
            </a:pPr>
            <a:r>
              <a:t>• 次に、レントゲンについてです。歯科用のレントゲンは、撮影する範囲がお口の中だけで、放射線の量もごくわずかです。鉛入りの防護エプロンを着けて撮影しますので、こちら…</a:t>
            </a:r>
          </a:p>
          <a:p>
            <a:pPr>
              <a:spcAft>
                <a:spcPts val="800"/>
              </a:spcAft>
              <a:defRPr sz="1400">
                <a:solidFill>
                  <a:srgbClr val="333333"/>
                </a:solidFill>
                <a:latin typeface="Meiryo"/>
              </a:defRPr>
            </a:pPr>
            <a:r>
              <a:t>• ちなみに、『赤ちゃんにカルシウムを取られて歯がボロボロになる』というお話を聞いたことがあるかもしれませんが、これは医学的には正しくありません。</a:t>
            </a:r>
          </a:p>
          <a:p>
            <a:pPr>
              <a:spcAft>
                <a:spcPts val="800"/>
              </a:spcAft>
              <a:defRPr sz="1400">
                <a:solidFill>
                  <a:srgbClr val="333333"/>
                </a:solidFill>
                <a:latin typeface="Meiryo"/>
              </a:defRPr>
            </a:pPr>
            <a:r>
              <a:t>• 妊娠中に歯のトラブルが増えるのは、ホルモンの変化やつわりで歯みがきが難しくなることが本当の原因なんです。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局所麻酔のイメージ（口元だけに効く→赤ちゃんに届かない） / 防護エプロンを着けたレントゲン撮影のイラスト / 「カルシウムを取られる→×（誤解）」のテロップ</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セクション3：受診時のポイント</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歯科受診の準備チェックリスト</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歯科を受診するときに気をつけていただきたいポイントをお伝えします。</a:t>
            </a:r>
          </a:p>
          <a:p>
            <a:pPr>
              <a:spcAft>
                <a:spcPts val="800"/>
              </a:spcAft>
              <a:defRPr sz="1400">
                <a:solidFill>
                  <a:srgbClr val="333333"/>
                </a:solidFill>
                <a:latin typeface="Meiryo"/>
              </a:defRPr>
            </a:pPr>
            <a:r>
              <a:t>• まず、妊娠していることと妊娠週数を必ず歯科医師に伝えてください。母子健康手帳を持っていくとスムーズです。</a:t>
            </a:r>
          </a:p>
          <a:p>
            <a:pPr>
              <a:spcAft>
                <a:spcPts val="800"/>
              </a:spcAft>
              <a:defRPr sz="1400">
                <a:solidFill>
                  <a:srgbClr val="333333"/>
                </a:solidFill>
                <a:latin typeface="Meiryo"/>
              </a:defRPr>
            </a:pPr>
            <a:r>
              <a:t>• それから、産婦人科の先生から何か注意事項がある場合は、事前に確認しておきましょう。</a:t>
            </a:r>
          </a:p>
          <a:p>
            <a:pPr>
              <a:spcAft>
                <a:spcPts val="800"/>
              </a:spcAft>
              <a:defRPr sz="1400">
                <a:solidFill>
                  <a:srgbClr val="333333"/>
                </a:solidFill>
                <a:latin typeface="Meiryo"/>
              </a:defRPr>
            </a:pPr>
            <a:r>
              <a:t>• 体調が優れない日は、予約を変更しても構いません。遠慮なく歯科医院に連絡してくださいね。</a:t>
            </a:r>
          </a:p>
          <a:p>
            <a:pPr>
              <a:spcAft>
                <a:spcPts val="800"/>
              </a:spcAft>
              <a:defRPr sz="1400">
                <a:solidFill>
                  <a:srgbClr val="333333"/>
                </a:solidFill>
                <a:latin typeface="Meiryo"/>
              </a:defRPr>
            </a:pPr>
            <a:r>
              <a:t>• 多くの自治体では妊婦歯科健診を無料で実施しています。母子手帳と一緒に受診券が届くことが多いので、ぜひ活用してみてください。</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チェックリスト風アニメーション / - □ 妊娠週数を伝える / - □ 母子手帳を持参 / - □ 産科医の注意事項を確認 / - □ 体調が悪い日は無理しない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セクション4：おうちでできること</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つわり中のお口ケアのコツ</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おうちでは、つわりの時期の歯みがきを工夫してみてください。小さめの歯ブラシに替えると、吐き気が出にくくなることがあります。それでも難しい時は、ぶくぶくうがいだけ…</a:t>
            </a:r>
          </a:p>
          <a:p>
            <a:pPr>
              <a:spcAft>
                <a:spcPts val="800"/>
              </a:spcAft>
              <a:defRPr sz="1400">
                <a:solidFill>
                  <a:srgbClr val="333333"/>
                </a:solidFill>
                <a:latin typeface="Meiryo"/>
              </a:defRPr>
            </a:pPr>
            <a:r>
              <a:t>• もし嘔吐してしまった後は、すぐに歯みがきせず、まずお水で口をすすいで、30分ほど待ってからみがくようにしてくださいね。</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小さめ歯ブラシのイメージ / 「嘔吐後→すすぐ→30分待つ→みがく」の手順イラスト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731520"/>
          </a:xfrm>
          <a:prstGeom prst="rect">
            <a:avLst/>
          </a:prstGeom>
          <a:noFill/>
        </p:spPr>
        <p:txBody>
          <a:bodyPr wrap="square">
            <a:spAutoFit/>
          </a:bodyPr>
          <a:lstStyle/>
          <a:p>
            <a:pPr algn="l">
              <a:defRPr sz="2800" b="1">
                <a:solidFill>
                  <a:srgbClr val="FFFFFF"/>
                </a:solidFill>
                <a:latin typeface="Meiryo"/>
              </a:defRPr>
            </a:pPr>
            <a:r>
              <a:t>「妊娠中だから」と我慢しないで</a:t>
            </a:r>
          </a:p>
        </p:txBody>
      </p:sp>
      <p:sp>
        <p:nvSpPr>
          <p:cNvPr id="4" name="TextBox 3"/>
          <p:cNvSpPr txBox="1"/>
          <p:nvPr/>
        </p:nvSpPr>
        <p:spPr>
          <a:xfrm>
            <a:off x="731520" y="2103120"/>
            <a:ext cx="7680960" cy="1371600"/>
          </a:xfrm>
          <a:prstGeom prst="rect">
            <a:avLst/>
          </a:prstGeom>
          <a:noFill/>
        </p:spPr>
        <p:txBody>
          <a:bodyPr wrap="square">
            <a:spAutoFit/>
          </a:bodyPr>
          <a:lstStyle/>
          <a:p>
            <a:pPr algn="l">
              <a:defRPr sz="1600" b="0">
                <a:solidFill>
                  <a:srgbClr val="CCE8ED"/>
                </a:solidFill>
                <a:latin typeface="Meiryo"/>
              </a:defRPr>
            </a:pPr>
            <a:r>
              <a:t>妊娠中の歯科治療をためらう気持ちは自然なことです。でも、正しい情報を持っていれば安心して受診できます。</a:t>
            </a:r>
            <a:br/>
            <a:r>
              <a:t>気になることがあれば、遠慮なく歯科医師にご相談くださいね。</a:t>
            </a:r>
          </a:p>
        </p:txBody>
      </p:sp>
      <p:sp>
        <p:nvSpPr>
          <p:cNvPr id="5" name="TextBox 4"/>
          <p:cNvSpPr txBox="1"/>
          <p:nvPr/>
        </p:nvSpPr>
        <p:spPr>
          <a:xfrm>
            <a:off x="731520" y="3840480"/>
            <a:ext cx="7680960" cy="457200"/>
          </a:xfrm>
          <a:prstGeom prst="rect">
            <a:avLst/>
          </a:prstGeom>
          <a:noFill/>
        </p:spPr>
        <p:txBody>
          <a:bodyPr wrap="square">
            <a:spAutoFit/>
          </a:bodyPr>
          <a:lstStyle/>
          <a:p>
            <a:pPr algn="l">
              <a:defRPr sz="1400" b="1">
                <a:solidFill>
                  <a:srgbClr val="26A69A"/>
                </a:solidFill>
                <a:latin typeface="Meiryo"/>
              </a:defRPr>
            </a:pPr>
            <a:r>
              <a:t>クリニック情報・ご予約はこちら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548640"/>
          </a:xfrm>
          <a:prstGeom prst="rect">
            <a:avLst/>
          </a:prstGeom>
          <a:noFill/>
        </p:spPr>
        <p:txBody>
          <a:bodyPr wrap="square">
            <a:spAutoFit/>
          </a:bodyPr>
          <a:lstStyle/>
          <a:p>
            <a:pPr algn="l">
              <a:defRPr sz="1400" b="1">
                <a:solidFill>
                  <a:srgbClr val="26A69A"/>
                </a:solidFill>
                <a:latin typeface="Meiryo"/>
              </a:defRPr>
            </a:pPr>
            <a:r>
              <a:t>まとめ</a:t>
            </a:r>
          </a:p>
        </p:txBody>
      </p:sp>
      <p:sp>
        <p:nvSpPr>
          <p:cNvPr id="4" name="Rectangle 3"/>
          <p:cNvSpPr/>
          <p:nvPr/>
        </p:nvSpPr>
        <p:spPr>
          <a:xfrm>
            <a:off x="548640" y="1463040"/>
            <a:ext cx="8046720" cy="18288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73152" cy="18288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7498079" cy="365760"/>
          </a:xfrm>
          <a:prstGeom prst="rect">
            <a:avLst/>
          </a:prstGeom>
          <a:noFill/>
        </p:spPr>
        <p:txBody>
          <a:bodyPr wrap="square">
            <a:spAutoFit/>
          </a:bodyPr>
          <a:lstStyle/>
          <a:p>
            <a:pPr algn="l">
              <a:defRPr sz="1200" b="1">
                <a:solidFill>
                  <a:srgbClr val="26A69A"/>
                </a:solidFill>
                <a:latin typeface="Meiryo"/>
              </a:defRPr>
            </a:pPr>
            <a:r>
              <a:t>キーメッセージ</a:t>
            </a:r>
          </a:p>
        </p:txBody>
      </p:sp>
      <p:sp>
        <p:nvSpPr>
          <p:cNvPr id="7" name="TextBox 6"/>
          <p:cNvSpPr txBox="1"/>
          <p:nvPr/>
        </p:nvSpPr>
        <p:spPr>
          <a:xfrm>
            <a:off x="914400" y="1920240"/>
            <a:ext cx="7498079" cy="1188720"/>
          </a:xfrm>
          <a:prstGeom prst="rect">
            <a:avLst/>
          </a:prstGeom>
          <a:noFill/>
        </p:spPr>
        <p:txBody>
          <a:bodyPr wrap="square">
            <a:spAutoFit/>
          </a:bodyPr>
          <a:lstStyle/>
          <a:p>
            <a:pPr algn="l">
              <a:defRPr sz="2000" b="1">
                <a:solidFill>
                  <a:srgbClr val="1B5E7B"/>
                </a:solidFill>
                <a:latin typeface="Meiryo"/>
              </a:defRPr>
            </a:pPr>
            <a:r>
              <a:t>妊娠中の歯科治療は安全。安定期の受診がおすすめ。痛みがあるなら我慢しないで。</a:t>
            </a:r>
          </a:p>
        </p:txBody>
      </p:sp>
      <p:sp>
        <p:nvSpPr>
          <p:cNvPr id="8" name="TextBox 7"/>
          <p:cNvSpPr txBox="1"/>
          <p:nvPr/>
        </p:nvSpPr>
        <p:spPr>
          <a:xfrm>
            <a:off x="731520" y="3840480"/>
            <a:ext cx="7680960" cy="457200"/>
          </a:xfrm>
          <a:prstGeom prst="rect">
            <a:avLst/>
          </a:prstGeom>
          <a:noFill/>
        </p:spPr>
        <p:txBody>
          <a:bodyPr wrap="square">
            <a:spAutoFit/>
          </a:bodyPr>
          <a:lstStyle/>
          <a:p>
            <a:pPr algn="l">
              <a:defRPr sz="1400" b="0">
                <a:solidFill>
                  <a:srgbClr val="555555"/>
                </a:solidFill>
                <a:latin typeface="Meiryo"/>
              </a:defRPr>
            </a:pPr>
            <a:r>
              <a:t>お問い合わせ: クリニック情報・ご予約方法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