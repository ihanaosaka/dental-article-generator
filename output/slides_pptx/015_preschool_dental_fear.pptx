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828800" cy="548640"/>
          </a:xfrm>
          <a:prstGeom prst="rect">
            <a:avLst/>
          </a:prstGeom>
          <a:noFill/>
        </p:spPr>
        <p:txBody>
          <a:bodyPr wrap="square">
            <a:spAutoFit/>
          </a:bodyPr>
          <a:lstStyle/>
          <a:p>
            <a:pPr algn="l">
              <a:defRPr sz="2000" b="1">
                <a:solidFill>
                  <a:srgbClr val="26A69A"/>
                </a:solidFill>
                <a:latin typeface="Meiryo"/>
              </a:defRPr>
            </a:pPr>
            <a:r>
              <a:t>#015</a:t>
            </a:r>
          </a:p>
        </p:txBody>
      </p:sp>
      <p:sp>
        <p:nvSpPr>
          <p:cNvPr id="4" name="TextBox 3"/>
          <p:cNvSpPr txBox="1"/>
          <p:nvPr/>
        </p:nvSpPr>
        <p:spPr>
          <a:xfrm>
            <a:off x="731520" y="1645920"/>
            <a:ext cx="7680960" cy="1371600"/>
          </a:xfrm>
          <a:prstGeom prst="rect">
            <a:avLst/>
          </a:prstGeom>
          <a:noFill/>
        </p:spPr>
        <p:txBody>
          <a:bodyPr wrap="square">
            <a:spAutoFit/>
          </a:bodyPr>
          <a:lstStyle/>
          <a:p>
            <a:pPr algn="l">
              <a:defRPr sz="3200" b="1">
                <a:solidFill>
                  <a:srgbClr val="FFFFFF"/>
                </a:solidFill>
                <a:latin typeface="Meiryo"/>
              </a:defRPr>
            </a:pPr>
            <a:r>
              <a:t>「歯医者さん、こわい！」と泣くわが子——どうすればいい？</a:t>
            </a:r>
          </a:p>
        </p:txBody>
      </p:sp>
      <p:sp>
        <p:nvSpPr>
          <p:cNvPr id="5" name="TextBox 4"/>
          <p:cNvSpPr txBox="1"/>
          <p:nvPr/>
        </p:nvSpPr>
        <p:spPr>
          <a:xfrm>
            <a:off x="731520" y="3291840"/>
            <a:ext cx="7680960" cy="457200"/>
          </a:xfrm>
          <a:prstGeom prst="rect">
            <a:avLst/>
          </a:prstGeom>
          <a:noFill/>
        </p:spPr>
        <p:txBody>
          <a:bodyPr wrap="square">
            <a:spAutoFit/>
          </a:bodyPr>
          <a:lstStyle/>
          <a:p>
            <a:pPr algn="l">
              <a:defRPr sz="1400" b="0">
                <a:solidFill>
                  <a:srgbClr val="B0D0D8"/>
                </a:solidFill>
                <a:latin typeface="Meiryo"/>
              </a:defRPr>
            </a:pPr>
            <a:r>
              <a:t>対象: 3〜6歳のお子さんを持つ保護者  |  約2分50秒</a:t>
            </a:r>
          </a:p>
        </p:txBody>
      </p:sp>
      <p:sp>
        <p:nvSpPr>
          <p:cNvPr id="6" name="Rectangle 5"/>
          <p:cNvSpPr/>
          <p:nvPr/>
        </p:nvSpPr>
        <p:spPr>
          <a:xfrm>
            <a:off x="731520" y="3931920"/>
            <a:ext cx="1828800" cy="36576"/>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オープニング</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800" b="1">
                <a:solidFill>
                  <a:srgbClr val="1B5E7B"/>
                </a:solidFill>
                <a:latin typeface="Meiryo"/>
              </a:defRPr>
            </a:pPr>
            <a:r>
              <a:t>歯医者が怖い子 どうすればいい？</a:t>
            </a:r>
          </a:p>
        </p:txBody>
      </p:sp>
      <p:sp>
        <p:nvSpPr>
          <p:cNvPr id="5" name="Rectangle 4"/>
          <p:cNvSpPr/>
          <p:nvPr/>
        </p:nvSpPr>
        <p:spPr>
          <a:xfrm>
            <a:off x="548640" y="1828800"/>
            <a:ext cx="8046720" cy="22860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73152" cy="22860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20240"/>
            <a:ext cx="7498079" cy="365760"/>
          </a:xfrm>
          <a:prstGeom prst="rect">
            <a:avLst/>
          </a:prstGeom>
          <a:noFill/>
        </p:spPr>
        <p:txBody>
          <a:bodyPr wrap="square">
            <a:spAutoFit/>
          </a:bodyPr>
          <a:lstStyle/>
          <a:p>
            <a:pPr algn="l">
              <a:defRPr sz="1200" b="1">
                <a:solidFill>
                  <a:srgbClr val="26A69A"/>
                </a:solidFill>
                <a:latin typeface="Meiryo"/>
              </a:defRPr>
            </a:pPr>
            <a:r>
              <a:t>視聴者からの質問</a:t>
            </a:r>
          </a:p>
        </p:txBody>
      </p:sp>
      <p:sp>
        <p:nvSpPr>
          <p:cNvPr id="8" name="TextBox 7"/>
          <p:cNvSpPr txBox="1"/>
          <p:nvPr/>
        </p:nvSpPr>
        <p:spPr>
          <a:xfrm>
            <a:off x="914400" y="2286000"/>
            <a:ext cx="7498079" cy="1645920"/>
          </a:xfrm>
          <a:prstGeom prst="rect">
            <a:avLst/>
          </a:prstGeom>
          <a:noFill/>
        </p:spPr>
        <p:txBody>
          <a:bodyPr wrap="square">
            <a:spAutoFit/>
          </a:bodyPr>
          <a:lstStyle/>
          <a:p>
            <a:pPr algn="l">
              <a:defRPr sz="1800" b="0">
                <a:solidFill>
                  <a:srgbClr val="333333"/>
                </a:solidFill>
                <a:latin typeface="Meiryo"/>
              </a:defRPr>
            </a:pPr>
            <a:r>
              <a:t>5歳の子が歯医者さんをすごく怖がって、</a:t>
            </a:r>
            <a:br/>
            <a:r>
              <a:t>泣いて暴れてしまいます。</a:t>
            </a:r>
            <a:br/>
            <a:r>
              <a:t>むし歯がありそうなのに、治療が進みません。</a:t>
            </a:r>
            <a:br/>
            <a:r>
              <a:t>どうしたらいいでしょうか……？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セクション1：結論から</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怖がるのは自然なこと → 少しずつ慣れればOK</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まずお伝えしたいのは、お子さんが歯医者を怖がるのはごく自然な反応だということです。わがままではありません。</a:t>
            </a:r>
          </a:p>
          <a:p>
            <a:pPr>
              <a:spcAft>
                <a:spcPts val="800"/>
              </a:spcAft>
              <a:defRPr sz="1400">
                <a:solidFill>
                  <a:srgbClr val="333333"/>
                </a:solidFill>
                <a:latin typeface="Meiryo"/>
              </a:defRPr>
            </a:pPr>
            <a:r>
              <a:t>• 見たことのない器具、独特の音、口の中を他人に触られる体験。大人でも苦手な方がいるくらいですから、お子さんが不安になるのは当然のことです。</a:t>
            </a:r>
          </a:p>
          <a:p>
            <a:pPr>
              <a:spcAft>
                <a:spcPts val="800"/>
              </a:spcAft>
              <a:defRPr sz="1400">
                <a:solidFill>
                  <a:srgbClr val="333333"/>
                </a:solidFill>
                <a:latin typeface="Meiryo"/>
              </a:defRPr>
            </a:pPr>
            <a:r>
              <a:t>• 大切なのは、無理に押さえつけるのではなく、お子さんのペースに合わせて少しずつ慣れてもらうこと。</a:t>
            </a:r>
          </a:p>
          <a:p>
            <a:pPr>
              <a:spcAft>
                <a:spcPts val="800"/>
              </a:spcAft>
              <a:defRPr sz="1400">
                <a:solidFill>
                  <a:srgbClr val="333333"/>
                </a:solidFill>
                <a:latin typeface="Meiryo"/>
              </a:defRPr>
            </a:pPr>
            <a:r>
              <a:t>• 小児歯科の研究では、段階的に慣れていくアプローチが効果的だと確認されています。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「怖がる＝自然な反応」のテキストとやさしいイラスト / ステップアップのイメージ図（座る→お口を開ける→鏡で見る→処置）</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セクション2：歯医者さんではどんな工夫をしているの？</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「説明→見せる→やる」の3ステップ</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小児歯科では、お子さんが安心して治療を受けられるように科学的に効果が確認された方法を使っています。</a:t>
            </a:r>
          </a:p>
          <a:p>
            <a:pPr>
              <a:spcAft>
                <a:spcPts val="800"/>
              </a:spcAft>
              <a:defRPr sz="1400">
                <a:solidFill>
                  <a:srgbClr val="333333"/>
                </a:solidFill>
                <a:latin typeface="Meiryo"/>
              </a:defRPr>
            </a:pPr>
            <a:r>
              <a:t>• 代表的なのが、テル・ショー・ドゥ法という3つのステップです。</a:t>
            </a:r>
          </a:p>
          <a:p>
            <a:pPr>
              <a:spcAft>
                <a:spcPts val="800"/>
              </a:spcAft>
              <a:defRPr sz="1400">
                <a:solidFill>
                  <a:srgbClr val="333333"/>
                </a:solidFill>
                <a:latin typeface="Meiryo"/>
              </a:defRPr>
            </a:pPr>
            <a:r>
              <a:t>• まず、これから何をするかお子さんにわかりやすく説明します。次に、使う道具を実際に見せたり手の甲に風を当てたりして、体験してもらいます。そして、説明した通りに処置…</a:t>
            </a:r>
          </a:p>
          <a:p>
            <a:pPr>
              <a:spcAft>
                <a:spcPts val="800"/>
              </a:spcAft>
              <a:defRPr sz="1400">
                <a:solidFill>
                  <a:srgbClr val="333333"/>
                </a:solidFill>
                <a:latin typeface="Meiryo"/>
              </a:defRPr>
            </a:pPr>
            <a:r>
              <a:t>• お子さんが怖がる大きな理由のひとつは、『何をされるかわからない』という不安です。この方法は、その不安を『わかった！』に変えてあげることでお子さんの心の準備を整え…</a:t>
            </a:r>
          </a:p>
          <a:p>
            <a:pPr>
              <a:spcAft>
                <a:spcPts val="800"/>
              </a:spcAft>
              <a:defRPr sz="1400">
                <a:solidFill>
                  <a:srgbClr val="333333"/>
                </a:solidFill>
                <a:latin typeface="Meiryo"/>
              </a:defRPr>
            </a:pPr>
            <a:r>
              <a:t>• がんばれたときにしっかりほめることや、好きな映像を見せて気持ちをそらす方法なども使われています。</a:t>
            </a:r>
          </a:p>
          <a:p>
            <a:pPr>
              <a:spcAft>
                <a:spcPts val="800"/>
              </a:spcAft>
              <a:defRPr sz="1400">
                <a:solidFill>
                  <a:srgbClr val="333333"/>
                </a:solidFill>
                <a:latin typeface="Meiryo"/>
              </a:defRPr>
            </a:pPr>
            <a:r>
              <a:t>• これらの方法は、複数の研究で効果が確認されています。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Tell→Show→Doの3ステップをイラスト付きで順番に表示 / 「ほめる」「気をそらす」のアイコン</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セクション3：おうちでできる準備と当日の工夫</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歯医者さんごっこ＋ポジティブな言葉かけ</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おうちでも、お子さんの不安を和らげるためにできることがたくさんありますよ。</a:t>
            </a:r>
          </a:p>
          <a:p>
            <a:pPr>
              <a:spcAft>
                <a:spcPts val="800"/>
              </a:spcAft>
              <a:defRPr sz="1400">
                <a:solidFill>
                  <a:srgbClr val="333333"/>
                </a:solidFill>
                <a:latin typeface="Meiryo"/>
              </a:defRPr>
            </a:pPr>
            <a:r>
              <a:t>• まず、ぬいぐるみを使って歯医者さんごっこをしてみましょう。口の中を見てもらうことが特別なことじゃないと感じてもらえます。</a:t>
            </a:r>
          </a:p>
          <a:p>
            <a:pPr>
              <a:spcAft>
                <a:spcPts val="800"/>
              </a:spcAft>
              <a:defRPr sz="1400">
                <a:solidFill>
                  <a:srgbClr val="333333"/>
                </a:solidFill>
                <a:latin typeface="Meiryo"/>
              </a:defRPr>
            </a:pPr>
            <a:r>
              <a:t>• 言葉かけも大切です。実は、『痛くないよ』と言うとかえって『痛い』が気になってしまいます。『歯をピカピカにしてもらおうね』のように前向きな言葉に変えてみてください…</a:t>
            </a:r>
          </a:p>
          <a:p>
            <a:pPr>
              <a:spcAft>
                <a:spcPts val="800"/>
              </a:spcAft>
              <a:defRPr sz="1400">
                <a:solidFill>
                  <a:srgbClr val="333333"/>
                </a:solidFill>
                <a:latin typeface="Meiryo"/>
              </a:defRPr>
            </a:pPr>
            <a:r>
              <a:t>• 当日は、時間に余裕を持って出かけましょう。お父さんお母さんの焦りはお子さんにすぐ伝わります。</a:t>
            </a:r>
          </a:p>
          <a:p>
            <a:pPr>
              <a:spcAft>
                <a:spcPts val="800"/>
              </a:spcAft>
              <a:defRPr sz="1400">
                <a:solidFill>
                  <a:srgbClr val="333333"/>
                </a:solidFill>
                <a:latin typeface="Meiryo"/>
              </a:defRPr>
            </a:pPr>
            <a:r>
              <a:t>• そして何より大切なのは、保護者の方自身がリラックスすることです。笑顔で見守っているだけで、お子さんは安心できますよ。</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歯医者さんごっこのイラスト / NG「痛くないよ」→ OK「ピカピカにしてもらおうね」の対比テロップ</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365760"/>
          </a:xfrm>
          <a:prstGeom prst="rect">
            <a:avLst/>
          </a:prstGeom>
          <a:noFill/>
        </p:spPr>
        <p:txBody>
          <a:bodyPr wrap="square">
            <a:spAutoFit/>
          </a:bodyPr>
          <a:lstStyle/>
          <a:p>
            <a:pPr algn="l">
              <a:defRPr sz="1200" b="1">
                <a:solidFill>
                  <a:srgbClr val="26A69A"/>
                </a:solidFill>
                <a:latin typeface="Meiryo"/>
              </a:defRPr>
            </a:pPr>
            <a:r>
              <a:t>セクション4：おうちでできること</a:t>
            </a:r>
          </a:p>
        </p:txBody>
      </p:sp>
      <p:sp>
        <p:nvSpPr>
          <p:cNvPr id="4" name="TextBox 3"/>
          <p:cNvSpPr txBox="1"/>
          <p:nvPr/>
        </p:nvSpPr>
        <p:spPr>
          <a:xfrm>
            <a:off x="731520" y="822960"/>
            <a:ext cx="7680960" cy="731520"/>
          </a:xfrm>
          <a:prstGeom prst="rect">
            <a:avLst/>
          </a:prstGeom>
          <a:noFill/>
        </p:spPr>
        <p:txBody>
          <a:bodyPr wrap="square">
            <a:spAutoFit/>
          </a:bodyPr>
          <a:lstStyle/>
          <a:p>
            <a:pPr algn="l">
              <a:defRPr sz="2400" b="1">
                <a:solidFill>
                  <a:srgbClr val="1B5E7B"/>
                </a:solidFill>
                <a:latin typeface="Meiryo"/>
              </a:defRPr>
            </a:pPr>
            <a:r>
              <a:t>できたことをほめる → 次の力になる</a:t>
            </a:r>
          </a:p>
        </p:txBody>
      </p:sp>
      <p:sp>
        <p:nvSpPr>
          <p:cNvPr id="5" name="TextBox 4"/>
          <p:cNvSpPr txBox="1"/>
          <p:nvPr/>
        </p:nvSpPr>
        <p:spPr>
          <a:xfrm>
            <a:off x="731520" y="1737360"/>
            <a:ext cx="7680960" cy="2560320"/>
          </a:xfrm>
          <a:prstGeom prst="rect">
            <a:avLst/>
          </a:prstGeom>
          <a:noFill/>
        </p:spPr>
        <p:txBody>
          <a:bodyPr wrap="square">
            <a:spAutoFit/>
          </a:bodyPr>
          <a:lstStyle/>
          <a:p>
            <a:pPr>
              <a:spcAft>
                <a:spcPts val="800"/>
              </a:spcAft>
              <a:defRPr sz="1400">
                <a:solidFill>
                  <a:srgbClr val="333333"/>
                </a:solidFill>
                <a:latin typeface="Meiryo"/>
              </a:defRPr>
            </a:pPr>
            <a:r>
              <a:t>• 歯科への恐怖を克服するには、時間がかかることもあります。それはまったく普通のことです。</a:t>
            </a:r>
          </a:p>
          <a:p>
            <a:pPr>
              <a:spcAft>
                <a:spcPts val="800"/>
              </a:spcAft>
              <a:defRPr sz="1400">
                <a:solidFill>
                  <a:srgbClr val="333333"/>
                </a:solidFill>
                <a:latin typeface="Meiryo"/>
              </a:defRPr>
            </a:pPr>
            <a:r>
              <a:t>• 最初は椅子に座るだけでも大丈夫。次はお口を開けるだけでもOK。</a:t>
            </a:r>
          </a:p>
          <a:p>
            <a:pPr>
              <a:spcAft>
                <a:spcPts val="800"/>
              </a:spcAft>
              <a:defRPr sz="1400">
                <a:solidFill>
                  <a:srgbClr val="333333"/>
                </a:solidFill>
                <a:latin typeface="Meiryo"/>
              </a:defRPr>
            </a:pPr>
            <a:r>
              <a:t>• できたことを『すごいね！』と認めてあげてください。小さな成功体験の積み重ねが、お子さんの自信になり、次の受診への大きな力になります。</a:t>
            </a:r>
          </a:p>
        </p:txBody>
      </p:sp>
      <p:sp>
        <p:nvSpPr>
          <p:cNvPr id="6" name="Rectangle 5"/>
          <p:cNvSpPr/>
          <p:nvPr/>
        </p:nvSpPr>
        <p:spPr>
          <a:xfrm>
            <a:off x="548640" y="4206240"/>
            <a:ext cx="8046720" cy="64008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4251960"/>
            <a:ext cx="7680960" cy="548640"/>
          </a:xfrm>
          <a:prstGeom prst="rect">
            <a:avLst/>
          </a:prstGeom>
          <a:noFill/>
        </p:spPr>
        <p:txBody>
          <a:bodyPr wrap="square">
            <a:spAutoFit/>
          </a:bodyPr>
          <a:lstStyle/>
          <a:p>
            <a:pPr algn="l">
              <a:defRPr sz="1100" b="0">
                <a:solidFill>
                  <a:srgbClr val="555555"/>
                </a:solidFill>
                <a:latin typeface="Meiryo"/>
              </a:defRPr>
            </a:pPr>
            <a:r>
              <a:t>演出: 段階的な成功ステップ（座る→開ける→見てもらう→処置）のイラスト</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B5E7B"/>
        </a:solidFill>
        <a:effectLst/>
      </p:bgPr>
    </p:bg>
    <p:spTree>
      <p:nvGrpSpPr>
        <p:cNvPr id="1" name=""/>
        <p:cNvGrpSpPr/>
        <p:nvPr/>
      </p:nvGrpSpPr>
      <p:grpSpPr/>
      <p:sp>
        <p:nvSpPr>
          <p:cNvPr id="2" name="Rectangle 1"/>
          <p:cNvSpPr/>
          <p:nvPr/>
        </p:nvSpPr>
        <p:spPr>
          <a:xfrm>
            <a:off x="0" y="0"/>
            <a:ext cx="9144000" cy="73152"/>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7680960" cy="731520"/>
          </a:xfrm>
          <a:prstGeom prst="rect">
            <a:avLst/>
          </a:prstGeom>
          <a:noFill/>
        </p:spPr>
        <p:txBody>
          <a:bodyPr wrap="square">
            <a:spAutoFit/>
          </a:bodyPr>
          <a:lstStyle/>
          <a:p>
            <a:pPr algn="l">
              <a:defRPr sz="2800" b="1">
                <a:solidFill>
                  <a:srgbClr val="FFFFFF"/>
                </a:solidFill>
                <a:latin typeface="Meiryo"/>
              </a:defRPr>
            </a:pPr>
            <a:r>
              <a:t>お子さんのペースで少しずつ</a:t>
            </a:r>
          </a:p>
        </p:txBody>
      </p:sp>
      <p:sp>
        <p:nvSpPr>
          <p:cNvPr id="4" name="TextBox 3"/>
          <p:cNvSpPr txBox="1"/>
          <p:nvPr/>
        </p:nvSpPr>
        <p:spPr>
          <a:xfrm>
            <a:off x="731520" y="2103120"/>
            <a:ext cx="7680960" cy="1371600"/>
          </a:xfrm>
          <a:prstGeom prst="rect">
            <a:avLst/>
          </a:prstGeom>
          <a:noFill/>
        </p:spPr>
        <p:txBody>
          <a:bodyPr wrap="square">
            <a:spAutoFit/>
          </a:bodyPr>
          <a:lstStyle/>
          <a:p>
            <a:pPr algn="l">
              <a:defRPr sz="1600" b="0">
                <a:solidFill>
                  <a:srgbClr val="CCE8ED"/>
                </a:solidFill>
                <a:latin typeface="Meiryo"/>
              </a:defRPr>
            </a:pPr>
            <a:r>
              <a:t>怖がるお子さんも、少しずつ『歯医者さんは怖くないところ』と思えるようになります。</a:t>
            </a:r>
            <a:br/>
            <a:r>
              <a:t>焦らず、一緒に歩んでいきましょう。気になることがあれば、いつでもお気軽にご相談くださいね。</a:t>
            </a:r>
          </a:p>
        </p:txBody>
      </p:sp>
      <p:sp>
        <p:nvSpPr>
          <p:cNvPr id="5" name="TextBox 4"/>
          <p:cNvSpPr txBox="1"/>
          <p:nvPr/>
        </p:nvSpPr>
        <p:spPr>
          <a:xfrm>
            <a:off x="731520" y="3840480"/>
            <a:ext cx="7680960" cy="457200"/>
          </a:xfrm>
          <a:prstGeom prst="rect">
            <a:avLst/>
          </a:prstGeom>
          <a:noFill/>
        </p:spPr>
        <p:txBody>
          <a:bodyPr wrap="square">
            <a:spAutoFit/>
          </a:bodyPr>
          <a:lstStyle/>
          <a:p>
            <a:pPr algn="l">
              <a:defRPr sz="1400" b="1">
                <a:solidFill>
                  <a:srgbClr val="26A69A"/>
                </a:solidFill>
                <a:latin typeface="Meiryo"/>
              </a:defRPr>
            </a:pPr>
            <a:r>
              <a:t>クリニック情報・ご予約はこちら</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54864"/>
          </a:xfrm>
          <a:prstGeom prst="rect">
            <a:avLst/>
          </a:prstGeom>
          <a:solidFill>
            <a:srgbClr val="1B5E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7680960" cy="548640"/>
          </a:xfrm>
          <a:prstGeom prst="rect">
            <a:avLst/>
          </a:prstGeom>
          <a:noFill/>
        </p:spPr>
        <p:txBody>
          <a:bodyPr wrap="square">
            <a:spAutoFit/>
          </a:bodyPr>
          <a:lstStyle/>
          <a:p>
            <a:pPr algn="l">
              <a:defRPr sz="1400" b="1">
                <a:solidFill>
                  <a:srgbClr val="26A69A"/>
                </a:solidFill>
                <a:latin typeface="Meiryo"/>
              </a:defRPr>
            </a:pPr>
            <a:r>
              <a:t>まとめ</a:t>
            </a:r>
          </a:p>
        </p:txBody>
      </p:sp>
      <p:sp>
        <p:nvSpPr>
          <p:cNvPr id="4" name="Rectangle 3"/>
          <p:cNvSpPr/>
          <p:nvPr/>
        </p:nvSpPr>
        <p:spPr>
          <a:xfrm>
            <a:off x="548640" y="1463040"/>
            <a:ext cx="8046720" cy="1828800"/>
          </a:xfrm>
          <a:prstGeom prst="rect">
            <a:avLst/>
          </a:prstGeom>
          <a:solidFill>
            <a:srgbClr val="E0F2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48640" y="1463040"/>
            <a:ext cx="73152" cy="1828800"/>
          </a:xfrm>
          <a:prstGeom prst="rect">
            <a:avLst/>
          </a:prstGeom>
          <a:solidFill>
            <a:srgbClr val="26A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54480"/>
            <a:ext cx="7498079" cy="365760"/>
          </a:xfrm>
          <a:prstGeom prst="rect">
            <a:avLst/>
          </a:prstGeom>
          <a:noFill/>
        </p:spPr>
        <p:txBody>
          <a:bodyPr wrap="square">
            <a:spAutoFit/>
          </a:bodyPr>
          <a:lstStyle/>
          <a:p>
            <a:pPr algn="l">
              <a:defRPr sz="1200" b="1">
                <a:solidFill>
                  <a:srgbClr val="26A69A"/>
                </a:solidFill>
                <a:latin typeface="Meiryo"/>
              </a:defRPr>
            </a:pPr>
            <a:r>
              <a:t>キーメッセージ</a:t>
            </a:r>
          </a:p>
        </p:txBody>
      </p:sp>
      <p:sp>
        <p:nvSpPr>
          <p:cNvPr id="7" name="TextBox 6"/>
          <p:cNvSpPr txBox="1"/>
          <p:nvPr/>
        </p:nvSpPr>
        <p:spPr>
          <a:xfrm>
            <a:off x="914400" y="1920240"/>
            <a:ext cx="7498079" cy="1188720"/>
          </a:xfrm>
          <a:prstGeom prst="rect">
            <a:avLst/>
          </a:prstGeom>
          <a:noFill/>
        </p:spPr>
        <p:txBody>
          <a:bodyPr wrap="square">
            <a:spAutoFit/>
          </a:bodyPr>
          <a:lstStyle/>
          <a:p>
            <a:pPr algn="l">
              <a:defRPr sz="2000" b="1">
                <a:solidFill>
                  <a:srgbClr val="1B5E7B"/>
                </a:solidFill>
                <a:latin typeface="Meiryo"/>
              </a:defRPr>
            </a:pPr>
            <a:r>
              <a:t>歯医者を怖がるのは自然な反応。無理強いせず、段階的に慣れていくことが大切。</a:t>
            </a:r>
          </a:p>
        </p:txBody>
      </p:sp>
      <p:sp>
        <p:nvSpPr>
          <p:cNvPr id="8" name="TextBox 7"/>
          <p:cNvSpPr txBox="1"/>
          <p:nvPr/>
        </p:nvSpPr>
        <p:spPr>
          <a:xfrm>
            <a:off x="731520" y="3840480"/>
            <a:ext cx="7680960" cy="457200"/>
          </a:xfrm>
          <a:prstGeom prst="rect">
            <a:avLst/>
          </a:prstGeom>
          <a:noFill/>
        </p:spPr>
        <p:txBody>
          <a:bodyPr wrap="square">
            <a:spAutoFit/>
          </a:bodyPr>
          <a:lstStyle/>
          <a:p>
            <a:pPr algn="l">
              <a:defRPr sz="1400" b="0">
                <a:solidFill>
                  <a:srgbClr val="555555"/>
                </a:solidFill>
                <a:latin typeface="Meiryo"/>
              </a:defRPr>
            </a:pPr>
            <a:r>
              <a:t>お問い合わせ: クリニック情報・ご予約方法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