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5E7B"/>
        </a:solidFill>
        <a:effectLst/>
      </p:bgPr>
    </p:bg>
    <p:spTree>
      <p:nvGrpSpPr>
        <p:cNvPr id="1" name=""/>
        <p:cNvGrpSpPr/>
        <p:nvPr/>
      </p:nvGrpSpPr>
      <p:grpSpPr/>
      <p:sp>
        <p:nvSpPr>
          <p:cNvPr id="2" name="Rectangle 1"/>
          <p:cNvSpPr/>
          <p:nvPr/>
        </p:nvSpPr>
        <p:spPr>
          <a:xfrm>
            <a:off x="0" y="0"/>
            <a:ext cx="9144000" cy="73152"/>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0"/>
            <a:ext cx="1828800" cy="548640"/>
          </a:xfrm>
          <a:prstGeom prst="rect">
            <a:avLst/>
          </a:prstGeom>
          <a:noFill/>
        </p:spPr>
        <p:txBody>
          <a:bodyPr wrap="square">
            <a:spAutoFit/>
          </a:bodyPr>
          <a:lstStyle/>
          <a:p>
            <a:pPr algn="l">
              <a:defRPr sz="2000" b="1">
                <a:solidFill>
                  <a:srgbClr val="26A69A"/>
                </a:solidFill>
                <a:latin typeface="Meiryo"/>
              </a:defRPr>
            </a:pPr>
            <a:r>
              <a:t>#005</a:t>
            </a:r>
          </a:p>
        </p:txBody>
      </p:sp>
      <p:sp>
        <p:nvSpPr>
          <p:cNvPr id="4" name="TextBox 3"/>
          <p:cNvSpPr txBox="1"/>
          <p:nvPr/>
        </p:nvSpPr>
        <p:spPr>
          <a:xfrm>
            <a:off x="731520" y="1645920"/>
            <a:ext cx="7680960" cy="1371600"/>
          </a:xfrm>
          <a:prstGeom prst="rect">
            <a:avLst/>
          </a:prstGeom>
          <a:noFill/>
        </p:spPr>
        <p:txBody>
          <a:bodyPr wrap="square">
            <a:spAutoFit/>
          </a:bodyPr>
          <a:lstStyle/>
          <a:p>
            <a:pPr algn="l">
              <a:defRPr sz="3200" b="1">
                <a:solidFill>
                  <a:srgbClr val="FFFFFF"/>
                </a:solidFill>
                <a:latin typeface="Meiryo"/>
              </a:defRPr>
            </a:pPr>
            <a:r>
              <a:t>妊娠中の歯周病、赤ちゃんにも影響するの？</a:t>
            </a:r>
          </a:p>
        </p:txBody>
      </p:sp>
      <p:sp>
        <p:nvSpPr>
          <p:cNvPr id="5" name="TextBox 4"/>
          <p:cNvSpPr txBox="1"/>
          <p:nvPr/>
        </p:nvSpPr>
        <p:spPr>
          <a:xfrm>
            <a:off x="731520" y="3291840"/>
            <a:ext cx="7680960" cy="457200"/>
          </a:xfrm>
          <a:prstGeom prst="rect">
            <a:avLst/>
          </a:prstGeom>
          <a:noFill/>
        </p:spPr>
        <p:txBody>
          <a:bodyPr wrap="square">
            <a:spAutoFit/>
          </a:bodyPr>
          <a:lstStyle/>
          <a:p>
            <a:pPr algn="l">
              <a:defRPr sz="1400" b="0">
                <a:solidFill>
                  <a:srgbClr val="B0D0D8"/>
                </a:solidFill>
                <a:latin typeface="Meiryo"/>
              </a:defRPr>
            </a:pPr>
            <a:r>
              <a:t>対象: 妊娠中の方、妊娠を考えている方  |  約2分50秒</a:t>
            </a:r>
          </a:p>
        </p:txBody>
      </p:sp>
      <p:sp>
        <p:nvSpPr>
          <p:cNvPr id="6" name="Rectangle 5"/>
          <p:cNvSpPr/>
          <p:nvPr/>
        </p:nvSpPr>
        <p:spPr>
          <a:xfrm>
            <a:off x="731520" y="3931920"/>
            <a:ext cx="1828800" cy="36576"/>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オープニング</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800" b="1">
                <a:solidFill>
                  <a:srgbClr val="1B5E7B"/>
                </a:solidFill>
                <a:latin typeface="Meiryo"/>
              </a:defRPr>
            </a:pPr>
            <a:r>
              <a:t>妊娠中の歯ぐきトラブルと赤ちゃん</a:t>
            </a:r>
          </a:p>
        </p:txBody>
      </p:sp>
      <p:sp>
        <p:nvSpPr>
          <p:cNvPr id="5" name="Rectangle 4"/>
          <p:cNvSpPr/>
          <p:nvPr/>
        </p:nvSpPr>
        <p:spPr>
          <a:xfrm>
            <a:off x="548640" y="1828800"/>
            <a:ext cx="8046720" cy="228600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73152" cy="2286000"/>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7498079" cy="365760"/>
          </a:xfrm>
          <a:prstGeom prst="rect">
            <a:avLst/>
          </a:prstGeom>
          <a:noFill/>
        </p:spPr>
        <p:txBody>
          <a:bodyPr wrap="square">
            <a:spAutoFit/>
          </a:bodyPr>
          <a:lstStyle/>
          <a:p>
            <a:pPr algn="l">
              <a:defRPr sz="1200" b="1">
                <a:solidFill>
                  <a:srgbClr val="26A69A"/>
                </a:solidFill>
                <a:latin typeface="Meiryo"/>
              </a:defRPr>
            </a:pPr>
            <a:r>
              <a:t>視聴者からの質問</a:t>
            </a:r>
          </a:p>
        </p:txBody>
      </p:sp>
      <p:sp>
        <p:nvSpPr>
          <p:cNvPr id="8" name="TextBox 7"/>
          <p:cNvSpPr txBox="1"/>
          <p:nvPr/>
        </p:nvSpPr>
        <p:spPr>
          <a:xfrm>
            <a:off x="914400" y="2286000"/>
            <a:ext cx="7498079" cy="1645920"/>
          </a:xfrm>
          <a:prstGeom prst="rect">
            <a:avLst/>
          </a:prstGeom>
          <a:noFill/>
        </p:spPr>
        <p:txBody>
          <a:bodyPr wrap="square">
            <a:spAutoFit/>
          </a:bodyPr>
          <a:lstStyle/>
          <a:p>
            <a:pPr algn="l">
              <a:defRPr sz="1800" b="0">
                <a:solidFill>
                  <a:srgbClr val="333333"/>
                </a:solidFill>
                <a:latin typeface="Meiryo"/>
              </a:defRPr>
            </a:pPr>
            <a:r>
              <a:t>妊娠してから歯ぐきから血が出るようになりました。</a:t>
            </a:r>
            <a:br/>
            <a:r>
              <a:t>歯周病だとお腹の赤ちゃんにも影響があるって本当ですか？</a:t>
            </a:r>
            <a:br/>
            <a:r>
              <a:t>でも妊娠中に歯医者に行っていいのか不安で……</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セクション1：結論から</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歯周病と早産の関連が複数の研究で報告されています</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結論からお伝えすると、お母さんの歯周病と早産や低体重児との間には関連があることが、世界中の大規模な研究で繰り返し報告されています。</a:t>
            </a:r>
          </a:p>
          <a:p>
            <a:pPr>
              <a:spcAft>
                <a:spcPts val="800"/>
              </a:spcAft>
              <a:defRPr sz="1400">
                <a:solidFill>
                  <a:srgbClr val="333333"/>
                </a:solidFill>
                <a:latin typeface="Meiryo"/>
              </a:defRPr>
            </a:pPr>
            <a:r>
              <a:t>• ただし、歯周病を治療すれば早産を確実に防げるかどうかは、まだ科学的にはっきりとは証明されていません。</a:t>
            </a:r>
          </a:p>
          <a:p>
            <a:pPr>
              <a:spcAft>
                <a:spcPts val="800"/>
              </a:spcAft>
              <a:defRPr sz="1400">
                <a:solidFill>
                  <a:srgbClr val="333333"/>
                </a:solidFill>
                <a:latin typeface="Meiryo"/>
              </a:defRPr>
            </a:pPr>
            <a:r>
              <a:t>• それでも、歯周病の治療はお母さんのお口の健康にとって確実にプラスであり、妊娠中でも安全に行えます。ですから、歯ぐきの出血が気になる方は、ぜひ早めに歯科を受診して…</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「歯周病→早産リスクとの関連あり」のシンプルな図解 / 「治療は安全・お口の健康にプラス」のメッセージ表示</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セクション2：なぜ妊娠中に歯ぐきトラブルが増えるの？</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ホルモンの変化で歯ぐきが腫れやすくなる</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妊娠すると、女性ホルモンが大きく増えます。その影響で歯ぐきが腫れたり、出血しやすくなります。これは妊娠性歯肉炎といって、多くの妊婦さんが経験するごく一般的なこと…</a:t>
            </a:r>
          </a:p>
          <a:p>
            <a:pPr>
              <a:spcAft>
                <a:spcPts val="800"/>
              </a:spcAft>
              <a:defRPr sz="1400">
                <a:solidFill>
                  <a:srgbClr val="333333"/>
                </a:solidFill>
                <a:latin typeface="Meiryo"/>
              </a:defRPr>
            </a:pPr>
            <a:r>
              <a:t>• この歯ぐきの炎症を『妊娠中だから仕方ない』と放っておくと、さらに深いところまで炎症が広がってしまうことがあります。これが歯周病です。</a:t>
            </a:r>
          </a:p>
          <a:p>
            <a:pPr>
              <a:spcAft>
                <a:spcPts val="800"/>
              </a:spcAft>
              <a:defRPr sz="1400">
                <a:solidFill>
                  <a:srgbClr val="333333"/>
                </a:solidFill>
                <a:latin typeface="Meiryo"/>
              </a:defRPr>
            </a:pPr>
            <a:r>
              <a:t>• 歯周病になると、炎症によって生まれた物質が血液に乗って全身をめぐることがあります。それが子宮や胎盤にも影響を与える可能性がある、というのが、今の研究で考えられて…</a:t>
            </a:r>
          </a:p>
          <a:p>
            <a:pPr>
              <a:spcAft>
                <a:spcPts val="800"/>
              </a:spcAft>
              <a:defRPr sz="1400">
                <a:solidFill>
                  <a:srgbClr val="333333"/>
                </a:solidFill>
                <a:latin typeface="Meiryo"/>
              </a:defRPr>
            </a:pPr>
            <a:r>
              <a:t>• ちなみに、『赤ちゃんにカルシウムを取られて歯がもろくなる』というお話は、医学的には正しくありません。原因はホルモンの変化によるお口の環境の変化なんですね。</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ホルモン変化→歯ぐきの腫れ→放置すると歯周病、の流れイラスト / 「カルシウムが取られる→×」のテロップ</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セクション3：妊娠中でも歯科受診は安全です</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安定期（5〜7か月）の受診がおすすめ</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『妊娠中は歯医者に行けない』と思っている方がとても多いのですが、これは誤解です。</a:t>
            </a:r>
          </a:p>
          <a:p>
            <a:pPr>
              <a:spcAft>
                <a:spcPts val="800"/>
              </a:spcAft>
              <a:defRPr sz="1400">
                <a:solidFill>
                  <a:srgbClr val="333333"/>
                </a:solidFill>
                <a:latin typeface="Meiryo"/>
              </a:defRPr>
            </a:pPr>
            <a:r>
              <a:t>• 歯科の検診やクリーニングは、妊娠中でも安全に受けられます。おすすめの時期は安定期、妊娠5か月から7か月くらいです。</a:t>
            </a:r>
          </a:p>
          <a:p>
            <a:pPr>
              <a:spcAft>
                <a:spcPts val="800"/>
              </a:spcAft>
              <a:defRPr sz="1400">
                <a:solidFill>
                  <a:srgbClr val="333333"/>
                </a:solidFill>
                <a:latin typeface="Meiryo"/>
              </a:defRPr>
            </a:pPr>
            <a:r>
              <a:t>• 受診のときは、妊娠していることと妊娠週数を歯科医師に必ず伝えてください。母子手帳を持参するとスムーズです。</a:t>
            </a:r>
          </a:p>
          <a:p>
            <a:pPr>
              <a:spcAft>
                <a:spcPts val="800"/>
              </a:spcAft>
              <a:defRPr sz="1400">
                <a:solidFill>
                  <a:srgbClr val="333333"/>
                </a:solidFill>
                <a:latin typeface="Meiryo"/>
              </a:defRPr>
            </a:pPr>
            <a:r>
              <a:t>• 歯科のレントゲンも、防護エプロンを着ければ安全ですし、局所麻酔も通常の量であれば赤ちゃんへの影響は心配いりません。</a:t>
            </a:r>
          </a:p>
          <a:p>
            <a:pPr>
              <a:spcAft>
                <a:spcPts val="800"/>
              </a:spcAft>
              <a:defRPr sz="1400">
                <a:solidFill>
                  <a:srgbClr val="333333"/>
                </a:solidFill>
                <a:latin typeface="Meiryo"/>
              </a:defRPr>
            </a:pPr>
            <a:r>
              <a:t>• 多くの自治体では妊婦歯科健診を無料で実施していますので、ぜひ確認してみてくださいね。</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妊娠タイムラインに「安定期がおすすめ」のマーク / 受診チェックリスト（妊娠週数を伝える・母子手帳持参）</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セクション4：おうちでできること</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毎日のケアで歯ぐきを守ろう</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おうちでは、フッ素入りの歯みがき粉で1日2回以上、丁寧にみがくことを心がけてください。</a:t>
            </a:r>
          </a:p>
          <a:p>
            <a:pPr>
              <a:spcAft>
                <a:spcPts val="800"/>
              </a:spcAft>
              <a:defRPr sz="1400">
                <a:solidFill>
                  <a:srgbClr val="333333"/>
                </a:solidFill>
                <a:latin typeface="Meiryo"/>
              </a:defRPr>
            </a:pPr>
            <a:r>
              <a:t>• 歯ブラシだけでは歯と歯の間の汚れは取りきれないので、デンタルフロスや歯間ブラシも使うとより効果的です。</a:t>
            </a:r>
          </a:p>
          <a:p>
            <a:pPr>
              <a:spcAft>
                <a:spcPts val="800"/>
              </a:spcAft>
              <a:defRPr sz="1400">
                <a:solidFill>
                  <a:srgbClr val="333333"/>
                </a:solidFill>
                <a:latin typeface="Meiryo"/>
              </a:defRPr>
            </a:pPr>
            <a:r>
              <a:t>• つわりで歯みがきがつらい時は、小さめの歯ブラシに替えたり、ぶくぶくうがいだけでもOKです。無理をせず、できることから続けてみてくださいね。</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フロス・歯間ブラシのイメージ写真 / 「つらい時はうがいだけでもOK」のテロップ</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5E7B"/>
        </a:solidFill>
        <a:effectLst/>
      </p:bgPr>
    </p:bg>
    <p:spTree>
      <p:nvGrpSpPr>
        <p:cNvPr id="1" name=""/>
        <p:cNvGrpSpPr/>
        <p:nvPr/>
      </p:nvGrpSpPr>
      <p:grpSpPr/>
      <p:sp>
        <p:nvSpPr>
          <p:cNvPr id="2" name="Rectangle 1"/>
          <p:cNvSpPr/>
          <p:nvPr/>
        </p:nvSpPr>
        <p:spPr>
          <a:xfrm>
            <a:off x="0" y="0"/>
            <a:ext cx="9144000" cy="73152"/>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0"/>
            <a:ext cx="7680960" cy="731520"/>
          </a:xfrm>
          <a:prstGeom prst="rect">
            <a:avLst/>
          </a:prstGeom>
          <a:noFill/>
        </p:spPr>
        <p:txBody>
          <a:bodyPr wrap="square">
            <a:spAutoFit/>
          </a:bodyPr>
          <a:lstStyle/>
          <a:p>
            <a:pPr algn="l">
              <a:defRPr sz="2800" b="1">
                <a:solidFill>
                  <a:srgbClr val="FFFFFF"/>
                </a:solidFill>
                <a:latin typeface="Meiryo"/>
              </a:defRPr>
            </a:pPr>
            <a:r>
              <a:t>歯ぐきの出血は放っておかないで</a:t>
            </a:r>
          </a:p>
        </p:txBody>
      </p:sp>
      <p:sp>
        <p:nvSpPr>
          <p:cNvPr id="4" name="TextBox 3"/>
          <p:cNvSpPr txBox="1"/>
          <p:nvPr/>
        </p:nvSpPr>
        <p:spPr>
          <a:xfrm>
            <a:off x="731520" y="2103120"/>
            <a:ext cx="7680960" cy="1371600"/>
          </a:xfrm>
          <a:prstGeom prst="rect">
            <a:avLst/>
          </a:prstGeom>
          <a:noFill/>
        </p:spPr>
        <p:txBody>
          <a:bodyPr wrap="square">
            <a:spAutoFit/>
          </a:bodyPr>
          <a:lstStyle/>
          <a:p>
            <a:pPr algn="l">
              <a:defRPr sz="1600" b="0">
                <a:solidFill>
                  <a:srgbClr val="CCE8ED"/>
                </a:solidFill>
                <a:latin typeface="Meiryo"/>
              </a:defRPr>
            </a:pPr>
            <a:r>
              <a:t>歯ぐきからの出血は、体からの小さなサインかもしれません。妊娠中だからとためらわず、気になったら早めにご相談くださいね。</a:t>
            </a:r>
          </a:p>
        </p:txBody>
      </p:sp>
      <p:sp>
        <p:nvSpPr>
          <p:cNvPr id="5" name="TextBox 4"/>
          <p:cNvSpPr txBox="1"/>
          <p:nvPr/>
        </p:nvSpPr>
        <p:spPr>
          <a:xfrm>
            <a:off x="731520" y="3840480"/>
            <a:ext cx="7680960" cy="457200"/>
          </a:xfrm>
          <a:prstGeom prst="rect">
            <a:avLst/>
          </a:prstGeom>
          <a:noFill/>
        </p:spPr>
        <p:txBody>
          <a:bodyPr wrap="square">
            <a:spAutoFit/>
          </a:bodyPr>
          <a:lstStyle/>
          <a:p>
            <a:pPr algn="l">
              <a:defRPr sz="1400" b="1">
                <a:solidFill>
                  <a:srgbClr val="26A69A"/>
                </a:solidFill>
                <a:latin typeface="Meiryo"/>
              </a:defRPr>
            </a:pPr>
            <a:r>
              <a:t>クリニック情報・ご予約はこちら</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7680960" cy="548640"/>
          </a:xfrm>
          <a:prstGeom prst="rect">
            <a:avLst/>
          </a:prstGeom>
          <a:noFill/>
        </p:spPr>
        <p:txBody>
          <a:bodyPr wrap="square">
            <a:spAutoFit/>
          </a:bodyPr>
          <a:lstStyle/>
          <a:p>
            <a:pPr algn="l">
              <a:defRPr sz="1400" b="1">
                <a:solidFill>
                  <a:srgbClr val="26A69A"/>
                </a:solidFill>
                <a:latin typeface="Meiryo"/>
              </a:defRPr>
            </a:pPr>
            <a:r>
              <a:t>まとめ</a:t>
            </a:r>
          </a:p>
        </p:txBody>
      </p:sp>
      <p:sp>
        <p:nvSpPr>
          <p:cNvPr id="4" name="Rectangle 3"/>
          <p:cNvSpPr/>
          <p:nvPr/>
        </p:nvSpPr>
        <p:spPr>
          <a:xfrm>
            <a:off x="548640" y="1463040"/>
            <a:ext cx="8046720" cy="182880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63040"/>
            <a:ext cx="73152" cy="1828800"/>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7498079" cy="365760"/>
          </a:xfrm>
          <a:prstGeom prst="rect">
            <a:avLst/>
          </a:prstGeom>
          <a:noFill/>
        </p:spPr>
        <p:txBody>
          <a:bodyPr wrap="square">
            <a:spAutoFit/>
          </a:bodyPr>
          <a:lstStyle/>
          <a:p>
            <a:pPr algn="l">
              <a:defRPr sz="1200" b="1">
                <a:solidFill>
                  <a:srgbClr val="26A69A"/>
                </a:solidFill>
                <a:latin typeface="Meiryo"/>
              </a:defRPr>
            </a:pPr>
            <a:r>
              <a:t>キーメッセージ</a:t>
            </a:r>
          </a:p>
        </p:txBody>
      </p:sp>
      <p:sp>
        <p:nvSpPr>
          <p:cNvPr id="7" name="TextBox 6"/>
          <p:cNvSpPr txBox="1"/>
          <p:nvPr/>
        </p:nvSpPr>
        <p:spPr>
          <a:xfrm>
            <a:off x="914400" y="1920240"/>
            <a:ext cx="7498079" cy="1188720"/>
          </a:xfrm>
          <a:prstGeom prst="rect">
            <a:avLst/>
          </a:prstGeom>
          <a:noFill/>
        </p:spPr>
        <p:txBody>
          <a:bodyPr wrap="square">
            <a:spAutoFit/>
          </a:bodyPr>
          <a:lstStyle/>
          <a:p>
            <a:pPr algn="l">
              <a:defRPr sz="2000" b="1">
                <a:solidFill>
                  <a:srgbClr val="1B5E7B"/>
                </a:solidFill>
                <a:latin typeface="Meiryo"/>
              </a:defRPr>
            </a:pPr>
            <a:r>
              <a:t>歯周病と早産には関連がある。妊娠中でも歯科治療は安全。歯ぐきの出血が気になったら早めに受診を。</a:t>
            </a:r>
          </a:p>
        </p:txBody>
      </p:sp>
      <p:sp>
        <p:nvSpPr>
          <p:cNvPr id="8" name="TextBox 7"/>
          <p:cNvSpPr txBox="1"/>
          <p:nvPr/>
        </p:nvSpPr>
        <p:spPr>
          <a:xfrm>
            <a:off x="731520" y="3840480"/>
            <a:ext cx="7680960" cy="457200"/>
          </a:xfrm>
          <a:prstGeom prst="rect">
            <a:avLst/>
          </a:prstGeom>
          <a:noFill/>
        </p:spPr>
        <p:txBody>
          <a:bodyPr wrap="square">
            <a:spAutoFit/>
          </a:bodyPr>
          <a:lstStyle/>
          <a:p>
            <a:pPr algn="l">
              <a:defRPr sz="1400" b="0">
                <a:solidFill>
                  <a:srgbClr val="555555"/>
                </a:solidFill>
                <a:latin typeface="Meiryo"/>
              </a:defRPr>
            </a:pPr>
            <a:r>
              <a:t>お問い合わせ: クリニック情報・ご予約方法</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