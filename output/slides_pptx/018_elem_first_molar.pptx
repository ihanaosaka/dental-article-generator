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828800" cy="548640"/>
          </a:xfrm>
          <a:prstGeom prst="rect">
            <a:avLst/>
          </a:prstGeom>
          <a:noFill/>
        </p:spPr>
        <p:txBody>
          <a:bodyPr wrap="square">
            <a:spAutoFit/>
          </a:bodyPr>
          <a:lstStyle/>
          <a:p>
            <a:pPr algn="l">
              <a:defRPr sz="2000" b="1">
                <a:solidFill>
                  <a:srgbClr val="26A69A"/>
                </a:solidFill>
                <a:latin typeface="Meiryo"/>
              </a:defRPr>
            </a:pPr>
            <a:r>
              <a:t>#018</a:t>
            </a:r>
          </a:p>
        </p:txBody>
      </p:sp>
      <p:sp>
        <p:nvSpPr>
          <p:cNvPr id="4" name="TextBox 3"/>
          <p:cNvSpPr txBox="1"/>
          <p:nvPr/>
        </p:nvSpPr>
        <p:spPr>
          <a:xfrm>
            <a:off x="731520" y="1645920"/>
            <a:ext cx="7680960" cy="1371600"/>
          </a:xfrm>
          <a:prstGeom prst="rect">
            <a:avLst/>
          </a:prstGeom>
          <a:noFill/>
        </p:spPr>
        <p:txBody>
          <a:bodyPr wrap="square">
            <a:spAutoFit/>
          </a:bodyPr>
          <a:lstStyle/>
          <a:p>
            <a:pPr algn="l">
              <a:defRPr sz="3200" b="1">
                <a:solidFill>
                  <a:srgbClr val="FFFFFF"/>
                </a:solidFill>
                <a:latin typeface="Meiryo"/>
              </a:defRPr>
            </a:pPr>
            <a:r>
              <a:t>6歳臼歯って知ってる？ 一生使う「最初の永久歯」の守り方</a:t>
            </a:r>
          </a:p>
        </p:txBody>
      </p:sp>
      <p:sp>
        <p:nvSpPr>
          <p:cNvPr id="5" name="TextBox 4"/>
          <p:cNvSpPr txBox="1"/>
          <p:nvPr/>
        </p:nvSpPr>
        <p:spPr>
          <a:xfrm>
            <a:off x="731520" y="3291840"/>
            <a:ext cx="7680960" cy="457200"/>
          </a:xfrm>
          <a:prstGeom prst="rect">
            <a:avLst/>
          </a:prstGeom>
          <a:noFill/>
        </p:spPr>
        <p:txBody>
          <a:bodyPr wrap="square">
            <a:spAutoFit/>
          </a:bodyPr>
          <a:lstStyle/>
          <a:p>
            <a:pPr algn="l">
              <a:defRPr sz="1400" b="0">
                <a:solidFill>
                  <a:srgbClr val="B0D0D8"/>
                </a:solidFill>
                <a:latin typeface="Meiryo"/>
              </a:defRPr>
            </a:pPr>
            <a:r>
              <a:t>対象: 5〜7歳のお子さんを持つ保護者  |  約2分50秒</a:t>
            </a:r>
          </a:p>
        </p:txBody>
      </p:sp>
      <p:sp>
        <p:nvSpPr>
          <p:cNvPr id="6" name="Rectangle 5"/>
          <p:cNvSpPr/>
          <p:nvPr/>
        </p:nvSpPr>
        <p:spPr>
          <a:xfrm>
            <a:off x="731520" y="3931920"/>
            <a:ext cx="1828800" cy="36576"/>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オープニング</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800" b="1">
                <a:solidFill>
                  <a:srgbClr val="1B5E7B"/>
                </a:solidFill>
                <a:latin typeface="Meiryo"/>
              </a:defRPr>
            </a:pPr>
            <a:r>
              <a:t>6歳臼歯 知っていますか？</a:t>
            </a:r>
          </a:p>
        </p:txBody>
      </p:sp>
      <p:sp>
        <p:nvSpPr>
          <p:cNvPr id="5" name="Rectangle 4"/>
          <p:cNvSpPr/>
          <p:nvPr/>
        </p:nvSpPr>
        <p:spPr>
          <a:xfrm>
            <a:off x="548640" y="1828800"/>
            <a:ext cx="8046720" cy="22860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73152" cy="2286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7498079" cy="365760"/>
          </a:xfrm>
          <a:prstGeom prst="rect">
            <a:avLst/>
          </a:prstGeom>
          <a:noFill/>
        </p:spPr>
        <p:txBody>
          <a:bodyPr wrap="square">
            <a:spAutoFit/>
          </a:bodyPr>
          <a:lstStyle/>
          <a:p>
            <a:pPr algn="l">
              <a:defRPr sz="1200" b="1">
                <a:solidFill>
                  <a:srgbClr val="26A69A"/>
                </a:solidFill>
                <a:latin typeface="Meiryo"/>
              </a:defRPr>
            </a:pPr>
            <a:r>
              <a:t>視聴者からの質問</a:t>
            </a:r>
          </a:p>
        </p:txBody>
      </p:sp>
      <p:sp>
        <p:nvSpPr>
          <p:cNvPr id="8" name="TextBox 7"/>
          <p:cNvSpPr txBox="1"/>
          <p:nvPr/>
        </p:nvSpPr>
        <p:spPr>
          <a:xfrm>
            <a:off x="914400" y="2286000"/>
            <a:ext cx="7498079" cy="1645920"/>
          </a:xfrm>
          <a:prstGeom prst="rect">
            <a:avLst/>
          </a:prstGeom>
          <a:noFill/>
        </p:spPr>
        <p:txBody>
          <a:bodyPr wrap="square">
            <a:spAutoFit/>
          </a:bodyPr>
          <a:lstStyle/>
          <a:p>
            <a:pPr algn="l">
              <a:defRPr sz="1800" b="0">
                <a:solidFill>
                  <a:srgbClr val="333333"/>
                </a:solidFill>
                <a:latin typeface="Meiryo"/>
              </a:defRPr>
            </a:pPr>
            <a:r>
              <a:t>子どもの奥歯のさらに奥に、</a:t>
            </a:r>
            <a:br/>
            <a:r>
              <a:t>見慣れない歯が生えてきました。</a:t>
            </a:r>
            <a:br/>
            <a:r>
              <a:t>乳歯が抜けた覚えはないのですが、</a:t>
            </a:r>
            <a:br/>
            <a:r>
              <a:t>これって何の歯ですか？ 気をつけることはありますか？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セクション1：結論から</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6歳臼歯 ＝ 一生使う最初の永久歯</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それは『6歳臼歯』と呼ばれる歯で、お子さんに初めて生えてくる永久歯の奥歯です。乳歯が抜けて生え替わるのではなく、乳歯の一番奥のさらに後ろに、新しく生えてきます。</a:t>
            </a:r>
          </a:p>
          <a:p>
            <a:pPr>
              <a:spcAft>
                <a:spcPts val="800"/>
              </a:spcAft>
              <a:defRPr sz="1400">
                <a:solidFill>
                  <a:srgbClr val="333333"/>
                </a:solidFill>
                <a:latin typeface="Meiryo"/>
              </a:defRPr>
            </a:pPr>
            <a:r>
              <a:t>• この歯は永久歯の中で最も大きく、噛む力の中心を担う、いわば口の中の大黒柱です。一生使い続ける大切な歯ですが、実は生えたばかりの時期がもっともむし歯になりやすいん…</a:t>
            </a:r>
          </a:p>
          <a:p>
            <a:pPr>
              <a:spcAft>
                <a:spcPts val="800"/>
              </a:spcAft>
              <a:defRPr sz="1400">
                <a:solidFill>
                  <a:srgbClr val="333333"/>
                </a:solidFill>
                <a:latin typeface="Meiryo"/>
              </a:defRPr>
            </a:pPr>
            <a:r>
              <a:t>• でもご安心ください。正しいケアで、しっかり守ることができます。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口の中のイラスト（6歳臼歯の位置を矢印で示す） / 「最初の永久歯」「一生使う」のテロップを強調</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セクション2：なぜむし歯になりやすいの？</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溝が深い × 歯がまだ未完成 × 磨きにくい</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6歳臼歯がむし歯になりやすい理由は3つあります。</a:t>
            </a:r>
          </a:p>
          <a:p>
            <a:pPr>
              <a:spcAft>
                <a:spcPts val="800"/>
              </a:spcAft>
              <a:defRPr sz="1400">
                <a:solidFill>
                  <a:srgbClr val="333333"/>
                </a:solidFill>
                <a:latin typeface="Meiryo"/>
              </a:defRPr>
            </a:pPr>
            <a:r>
              <a:t>• 1つ目は、噛む面に細くて深い溝がたくさんあること。この溝は歯ブラシの毛先よりも細いので、丁寧に磨いても汚れが残りやすいんです。</a:t>
            </a:r>
          </a:p>
          <a:p>
            <a:pPr>
              <a:spcAft>
                <a:spcPts val="800"/>
              </a:spcAft>
              <a:defRPr sz="1400">
                <a:solidFill>
                  <a:srgbClr val="333333"/>
                </a:solidFill>
                <a:latin typeface="Meiryo"/>
              </a:defRPr>
            </a:pPr>
            <a:r>
              <a:t>• 2つ目は、生えたばかりの歯の表面がまだ未完成なこと。歯の一番外側の硬い層が十分に硬くなるまでには生えてから数年かかります。その間はむし歯菌の出す酸に弱い状態です…</a:t>
            </a:r>
          </a:p>
          <a:p>
            <a:pPr>
              <a:spcAft>
                <a:spcPts val="800"/>
              </a:spcAft>
              <a:defRPr sz="1400">
                <a:solidFill>
                  <a:srgbClr val="333333"/>
                </a:solidFill>
                <a:latin typeface="Meiryo"/>
              </a:defRPr>
            </a:pPr>
            <a:r>
              <a:t>• 3つ目は、完全に生えるまでに1年以上かかること。その間、歯ぐきが一部かぶさった状態が続いて、汚れがたまりやすく、磨きにくい状況が長く続きます。</a:t>
            </a:r>
          </a:p>
          <a:p>
            <a:pPr>
              <a:spcAft>
                <a:spcPts val="800"/>
              </a:spcAft>
              <a:defRPr sz="1400">
                <a:solidFill>
                  <a:srgbClr val="333333"/>
                </a:solidFill>
                <a:latin typeface="Meiryo"/>
              </a:defRPr>
            </a:pPr>
            <a:r>
              <a:t>• つまり、一番守りたい時期に、一番むし歯になりやすい条件が重なっているんです。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3つの理由を順番に表示するアニメーション / 生えかけの6歳臼歯イラスト（歯ぐきが半分かぶさっている様子）</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セクション3：実践アドバイス</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シーラント＋フッ素＋仕上げ磨き 3つの柱で守る</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6歳臼歯を守るには、3つの柱を組み合わせましょう。</a:t>
            </a:r>
          </a:p>
          <a:p>
            <a:pPr>
              <a:spcAft>
                <a:spcPts val="800"/>
              </a:spcAft>
              <a:defRPr sz="1400">
                <a:solidFill>
                  <a:srgbClr val="333333"/>
                </a:solidFill>
                <a:latin typeface="Meiryo"/>
              </a:defRPr>
            </a:pPr>
            <a:r>
              <a:t>• 1つ目は、シーラント。歯科医院で歯の溝を専用の材料で埋めて、汚れが入り込むのを防ぐ処置です。歯を削らないので痛みもほとんどなく、むし歯を最大80%減らせるとされ…</a:t>
            </a:r>
          </a:p>
          <a:p>
            <a:pPr>
              <a:spcAft>
                <a:spcPts val="800"/>
              </a:spcAft>
              <a:defRPr sz="1400">
                <a:solidFill>
                  <a:srgbClr val="333333"/>
                </a:solidFill>
                <a:latin typeface="Meiryo"/>
              </a:defRPr>
            </a:pPr>
            <a:r>
              <a:t>• 2つ目は、フッ素の活用。歯科医院でのフッ素塗布と、おうちでのフッ素入り歯みがき粉を組み合わせることで、まだ未完成な歯の表面を強くしてくれます。</a:t>
            </a:r>
          </a:p>
          <a:p>
            <a:pPr>
              <a:spcAft>
                <a:spcPts val="800"/>
              </a:spcAft>
              <a:defRPr sz="1400">
                <a:solidFill>
                  <a:srgbClr val="333333"/>
                </a:solidFill>
                <a:latin typeface="Meiryo"/>
              </a:defRPr>
            </a:pPr>
            <a:r>
              <a:t>• 3つ目は、毎日の仕上げ磨き。8歳から9歳頃まで続けてあげてください。これらを組み合わせることが大切です。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「3つの柱」を表形式で表示（シーラント／フッ素／仕上げ磨き） / 各柱にイラストアイコンを添える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セクション4：おうちでできること</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おやつは時間を決めて 飲み物はお水・お茶に</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おうちでは、おやつの食べ方も工夫しましょう。だらだら食べ続けると、口の中がずっと酸性になって歯が溶け続けてしまいます。おやつの時間を決めて、メリハリをつけるのが…</a:t>
            </a:r>
          </a:p>
          <a:p>
            <a:pPr>
              <a:spcAft>
                <a:spcPts val="800"/>
              </a:spcAft>
              <a:defRPr sz="1400">
                <a:solidFill>
                  <a:srgbClr val="333333"/>
                </a:solidFill>
                <a:latin typeface="Meiryo"/>
              </a:defRPr>
            </a:pPr>
            <a:r>
              <a:t>• ふだんの飲み物はお水やお茶にして、ジュースやスポーツドリンクは本当に必要な場面だけにしましょう。</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時計のイラスト（おやつの時間を区切るイメージ） / お水・お茶のアイコンに○、ジュースに△のマーク</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7680960" cy="731520"/>
          </a:xfrm>
          <a:prstGeom prst="rect">
            <a:avLst/>
          </a:prstGeom>
          <a:noFill/>
        </p:spPr>
        <p:txBody>
          <a:bodyPr wrap="square">
            <a:spAutoFit/>
          </a:bodyPr>
          <a:lstStyle/>
          <a:p>
            <a:pPr algn="l">
              <a:defRPr sz="2800" b="1">
                <a:solidFill>
                  <a:srgbClr val="FFFFFF"/>
                </a:solidFill>
                <a:latin typeface="Meiryo"/>
              </a:defRPr>
            </a:pPr>
            <a:r>
              <a:t>「生えてきたかも？」が予防のスタート</a:t>
            </a:r>
          </a:p>
        </p:txBody>
      </p:sp>
      <p:sp>
        <p:nvSpPr>
          <p:cNvPr id="4" name="TextBox 3"/>
          <p:cNvSpPr txBox="1"/>
          <p:nvPr/>
        </p:nvSpPr>
        <p:spPr>
          <a:xfrm>
            <a:off x="731520" y="2103120"/>
            <a:ext cx="7680960" cy="1371600"/>
          </a:xfrm>
          <a:prstGeom prst="rect">
            <a:avLst/>
          </a:prstGeom>
          <a:noFill/>
        </p:spPr>
        <p:txBody>
          <a:bodyPr wrap="square">
            <a:spAutoFit/>
          </a:bodyPr>
          <a:lstStyle/>
          <a:p>
            <a:pPr algn="l">
              <a:defRPr sz="1600" b="0">
                <a:solidFill>
                  <a:srgbClr val="CCE8ED"/>
                </a:solidFill>
                <a:latin typeface="Meiryo"/>
              </a:defRPr>
            </a:pPr>
            <a:r>
              <a:t>6歳臼歯が生えてきたかも？と思ったら、そのタイミングが予防のスタートです。ぜひ歯科医院で相談してみてくださいね。早めの予防が、お子さんの歯の未来を大きく変えます。</a:t>
            </a:r>
          </a:p>
        </p:txBody>
      </p:sp>
      <p:sp>
        <p:nvSpPr>
          <p:cNvPr id="5" name="TextBox 4"/>
          <p:cNvSpPr txBox="1"/>
          <p:nvPr/>
        </p:nvSpPr>
        <p:spPr>
          <a:xfrm>
            <a:off x="731520" y="3840480"/>
            <a:ext cx="7680960" cy="457200"/>
          </a:xfrm>
          <a:prstGeom prst="rect">
            <a:avLst/>
          </a:prstGeom>
          <a:noFill/>
        </p:spPr>
        <p:txBody>
          <a:bodyPr wrap="square">
            <a:spAutoFit/>
          </a:bodyPr>
          <a:lstStyle/>
          <a:p>
            <a:pPr algn="l">
              <a:defRPr sz="1400" b="1">
                <a:solidFill>
                  <a:srgbClr val="26A69A"/>
                </a:solidFill>
                <a:latin typeface="Meiryo"/>
              </a:defRPr>
            </a:pPr>
            <a:r>
              <a:t>クリニック情報・ご予約はこちら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548640"/>
          </a:xfrm>
          <a:prstGeom prst="rect">
            <a:avLst/>
          </a:prstGeom>
          <a:noFill/>
        </p:spPr>
        <p:txBody>
          <a:bodyPr wrap="square">
            <a:spAutoFit/>
          </a:bodyPr>
          <a:lstStyle/>
          <a:p>
            <a:pPr algn="l">
              <a:defRPr sz="1400" b="1">
                <a:solidFill>
                  <a:srgbClr val="26A69A"/>
                </a:solidFill>
                <a:latin typeface="Meiryo"/>
              </a:defRPr>
            </a:pPr>
            <a:r>
              <a:t>まとめ</a:t>
            </a:r>
          </a:p>
        </p:txBody>
      </p:sp>
      <p:sp>
        <p:nvSpPr>
          <p:cNvPr id="4" name="Rectangle 3"/>
          <p:cNvSpPr/>
          <p:nvPr/>
        </p:nvSpPr>
        <p:spPr>
          <a:xfrm>
            <a:off x="548640" y="1463040"/>
            <a:ext cx="8046720" cy="18288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73152" cy="18288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7498079" cy="365760"/>
          </a:xfrm>
          <a:prstGeom prst="rect">
            <a:avLst/>
          </a:prstGeom>
          <a:noFill/>
        </p:spPr>
        <p:txBody>
          <a:bodyPr wrap="square">
            <a:spAutoFit/>
          </a:bodyPr>
          <a:lstStyle/>
          <a:p>
            <a:pPr algn="l">
              <a:defRPr sz="1200" b="1">
                <a:solidFill>
                  <a:srgbClr val="26A69A"/>
                </a:solidFill>
                <a:latin typeface="Meiryo"/>
              </a:defRPr>
            </a:pPr>
            <a:r>
              <a:t>キーメッセージ</a:t>
            </a:r>
          </a:p>
        </p:txBody>
      </p:sp>
      <p:sp>
        <p:nvSpPr>
          <p:cNvPr id="7" name="TextBox 6"/>
          <p:cNvSpPr txBox="1"/>
          <p:nvPr/>
        </p:nvSpPr>
        <p:spPr>
          <a:xfrm>
            <a:off x="914400" y="1920240"/>
            <a:ext cx="7498079" cy="1188720"/>
          </a:xfrm>
          <a:prstGeom prst="rect">
            <a:avLst/>
          </a:prstGeom>
          <a:noFill/>
        </p:spPr>
        <p:txBody>
          <a:bodyPr wrap="square">
            <a:spAutoFit/>
          </a:bodyPr>
          <a:lstStyle/>
          <a:p>
            <a:pPr algn="l">
              <a:defRPr sz="2000" b="1">
                <a:solidFill>
                  <a:srgbClr val="1B5E7B"/>
                </a:solidFill>
                <a:latin typeface="Meiryo"/>
              </a:defRPr>
            </a:pPr>
            <a:r>
              <a:t>6歳臼歯は一生使う大切な歯。生えたばかりの時期がもっとも危険だが、シーラント・フッ素・仕上げ磨きの3つの柱で守れる。</a:t>
            </a:r>
          </a:p>
        </p:txBody>
      </p:sp>
      <p:sp>
        <p:nvSpPr>
          <p:cNvPr id="8" name="TextBox 7"/>
          <p:cNvSpPr txBox="1"/>
          <p:nvPr/>
        </p:nvSpPr>
        <p:spPr>
          <a:xfrm>
            <a:off x="731520" y="3840480"/>
            <a:ext cx="7680960" cy="457200"/>
          </a:xfrm>
          <a:prstGeom prst="rect">
            <a:avLst/>
          </a:prstGeom>
          <a:noFill/>
        </p:spPr>
        <p:txBody>
          <a:bodyPr wrap="square">
            <a:spAutoFit/>
          </a:bodyPr>
          <a:lstStyle/>
          <a:p>
            <a:pPr algn="l">
              <a:defRPr sz="1400" b="0">
                <a:solidFill>
                  <a:srgbClr val="555555"/>
                </a:solidFill>
                <a:latin typeface="Meiryo"/>
              </a:defRPr>
            </a:pPr>
            <a:r>
              <a:t>お問い合わせ: クリニック情報・ご予約方法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