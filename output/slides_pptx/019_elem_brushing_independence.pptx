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828800" cy="548640"/>
          </a:xfrm>
          <a:prstGeom prst="rect">
            <a:avLst/>
          </a:prstGeom>
          <a:noFill/>
        </p:spPr>
        <p:txBody>
          <a:bodyPr wrap="square">
            <a:spAutoFit/>
          </a:bodyPr>
          <a:lstStyle/>
          <a:p>
            <a:pPr algn="l">
              <a:defRPr sz="2000" b="1">
                <a:solidFill>
                  <a:srgbClr val="26A69A"/>
                </a:solidFill>
                <a:latin typeface="Meiryo"/>
              </a:defRPr>
            </a:pPr>
            <a:r>
              <a:t>#019</a:t>
            </a:r>
          </a:p>
        </p:txBody>
      </p:sp>
      <p:sp>
        <p:nvSpPr>
          <p:cNvPr id="4" name="TextBox 3"/>
          <p:cNvSpPr txBox="1"/>
          <p:nvPr/>
        </p:nvSpPr>
        <p:spPr>
          <a:xfrm>
            <a:off x="731520" y="1645920"/>
            <a:ext cx="7680960" cy="1371600"/>
          </a:xfrm>
          <a:prstGeom prst="rect">
            <a:avLst/>
          </a:prstGeom>
          <a:noFill/>
        </p:spPr>
        <p:txBody>
          <a:bodyPr wrap="square">
            <a:spAutoFit/>
          </a:bodyPr>
          <a:lstStyle/>
          <a:p>
            <a:pPr algn="l">
              <a:defRPr sz="3200" b="1">
                <a:solidFill>
                  <a:srgbClr val="FFFFFF"/>
                </a:solidFill>
                <a:latin typeface="Meiryo"/>
              </a:defRPr>
            </a:pPr>
            <a:r>
              <a:t>仕上げ磨き、いつやめていいの？</a:t>
            </a:r>
          </a:p>
        </p:txBody>
      </p:sp>
      <p:sp>
        <p:nvSpPr>
          <p:cNvPr id="5" name="TextBox 4"/>
          <p:cNvSpPr txBox="1"/>
          <p:nvPr/>
        </p:nvSpPr>
        <p:spPr>
          <a:xfrm>
            <a:off x="731520" y="3291840"/>
            <a:ext cx="7680960" cy="457200"/>
          </a:xfrm>
          <a:prstGeom prst="rect">
            <a:avLst/>
          </a:prstGeom>
          <a:noFill/>
        </p:spPr>
        <p:txBody>
          <a:bodyPr wrap="square">
            <a:spAutoFit/>
          </a:bodyPr>
          <a:lstStyle/>
          <a:p>
            <a:pPr algn="l">
              <a:defRPr sz="1400" b="0">
                <a:solidFill>
                  <a:srgbClr val="B0D0D8"/>
                </a:solidFill>
                <a:latin typeface="Meiryo"/>
              </a:defRPr>
            </a:pPr>
            <a:r>
              <a:t>対象: 小学校低〜中学年のお子さんを持つ保護者  |  約2分50秒</a:t>
            </a:r>
          </a:p>
        </p:txBody>
      </p:sp>
      <p:sp>
        <p:nvSpPr>
          <p:cNvPr id="6" name="Rectangle 5"/>
          <p:cNvSpPr/>
          <p:nvPr/>
        </p:nvSpPr>
        <p:spPr>
          <a:xfrm>
            <a:off x="731520" y="3931920"/>
            <a:ext cx="1828800" cy="36576"/>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オープニング</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800" b="1">
                <a:solidFill>
                  <a:srgbClr val="1B5E7B"/>
                </a:solidFill>
                <a:latin typeface="Meiryo"/>
              </a:defRPr>
            </a:pPr>
            <a:r>
              <a:t>仕上げ磨き いつまで続ける？</a:t>
            </a:r>
          </a:p>
        </p:txBody>
      </p:sp>
      <p:sp>
        <p:nvSpPr>
          <p:cNvPr id="5" name="Rectangle 4"/>
          <p:cNvSpPr/>
          <p:nvPr/>
        </p:nvSpPr>
        <p:spPr>
          <a:xfrm>
            <a:off x="548640" y="1828800"/>
            <a:ext cx="8046720" cy="22860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73152" cy="2286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7498079" cy="365760"/>
          </a:xfrm>
          <a:prstGeom prst="rect">
            <a:avLst/>
          </a:prstGeom>
          <a:noFill/>
        </p:spPr>
        <p:txBody>
          <a:bodyPr wrap="square">
            <a:spAutoFit/>
          </a:bodyPr>
          <a:lstStyle/>
          <a:p>
            <a:pPr algn="l">
              <a:defRPr sz="1200" b="1">
                <a:solidFill>
                  <a:srgbClr val="26A69A"/>
                </a:solidFill>
                <a:latin typeface="Meiryo"/>
              </a:defRPr>
            </a:pPr>
            <a:r>
              <a:t>視聴者からの質問</a:t>
            </a:r>
          </a:p>
        </p:txBody>
      </p:sp>
      <p:sp>
        <p:nvSpPr>
          <p:cNvPr id="8" name="TextBox 7"/>
          <p:cNvSpPr txBox="1"/>
          <p:nvPr/>
        </p:nvSpPr>
        <p:spPr>
          <a:xfrm>
            <a:off x="914400" y="2286000"/>
            <a:ext cx="7498079" cy="1645920"/>
          </a:xfrm>
          <a:prstGeom prst="rect">
            <a:avLst/>
          </a:prstGeom>
          <a:noFill/>
        </p:spPr>
        <p:txBody>
          <a:bodyPr wrap="square">
            <a:spAutoFit/>
          </a:bodyPr>
          <a:lstStyle/>
          <a:p>
            <a:pPr algn="l">
              <a:defRPr sz="1800" b="0">
                <a:solidFill>
                  <a:srgbClr val="333333"/>
                </a:solidFill>
                <a:latin typeface="Meiryo"/>
              </a:defRPr>
            </a:pPr>
            <a:r>
              <a:t>小学2年生の子どもに</a:t>
            </a:r>
            <a:br/>
            <a:r>
              <a:t>『もう自分で磨ける！』と言われました。</a:t>
            </a:r>
            <a:br/>
            <a:r>
              <a:t>仕上げ磨きは、いつまで続ければいいですか？</a:t>
            </a:r>
            <a:br/>
            <a:r>
              <a:t>もう卒業させてもいいんでしょうか……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セクション1：結論から</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少なくとも8歳頃までは続けましょう</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結論からお伝えすると、仕上げ磨きは少なくとも8歳頃までは続けるのが望ましいとされています。これは複数の研究データに基づく推奨です。</a:t>
            </a:r>
          </a:p>
          <a:p>
            <a:pPr>
              <a:spcAft>
                <a:spcPts val="800"/>
              </a:spcAft>
              <a:defRPr sz="1400">
                <a:solidFill>
                  <a:srgbClr val="333333"/>
                </a:solidFill>
                <a:latin typeface="Meiryo"/>
              </a:defRPr>
            </a:pPr>
            <a:r>
              <a:t>• お子さんが『自分で磨ける』と言うのは、成長を感じるうれしい瞬間ですよね。でも実は、『自分で磨ける』ことと『きちんと磨けている』ことの間には、大きなギャップがある…</a:t>
            </a:r>
          </a:p>
          <a:p>
            <a:pPr>
              <a:spcAft>
                <a:spcPts val="800"/>
              </a:spcAft>
              <a:defRPr sz="1400">
                <a:solidFill>
                  <a:srgbClr val="333333"/>
                </a:solidFill>
                <a:latin typeface="Meiryo"/>
              </a:defRPr>
            </a:pPr>
            <a:r>
              <a:t>• 8歳を過ぎたら、すぐに卒業するのではなく、段階的にお子さんに任せていくのがおすすめです。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「少なくとも8歳頃まで」のテロップを強調表示 / 「磨ける」と「磨けている」のギャップをイラストで表現</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セクション2：なぜまだ必要なの？</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お口の中が「工事中」 手先もまだ発達途上</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小学校低学年のお口の中は、乳歯が抜けて永久歯に生え変わる真っ最中。大きさの違う歯がでこぼこに並んで、すき間や段差がたくさんあります。</a:t>
            </a:r>
          </a:p>
          <a:p>
            <a:pPr>
              <a:spcAft>
                <a:spcPts val="800"/>
              </a:spcAft>
              <a:defRPr sz="1400">
                <a:solidFill>
                  <a:srgbClr val="333333"/>
                </a:solidFill>
                <a:latin typeface="Meiryo"/>
              </a:defRPr>
            </a:pPr>
            <a:r>
              <a:t>• 特に6歳臼歯は口の一番奥に生えてくるので、お子さんひとりでは歯ブラシが届きにくい場所です。</a:t>
            </a:r>
          </a:p>
          <a:p>
            <a:pPr>
              <a:spcAft>
                <a:spcPts val="800"/>
              </a:spcAft>
              <a:defRPr sz="1400">
                <a:solidFill>
                  <a:srgbClr val="333333"/>
                </a:solidFill>
                <a:latin typeface="Meiryo"/>
              </a:defRPr>
            </a:pPr>
            <a:r>
              <a:t>• もうひとつの理由は、手先の器用さです。歯ブラシを正しい角度で歯に当てて、力を入れすぎずに小刻みに動かす。この細かい動きができるようになるのは、一般的に8歳から9…</a:t>
            </a:r>
          </a:p>
          <a:p>
            <a:pPr>
              <a:spcAft>
                <a:spcPts val="800"/>
              </a:spcAft>
              <a:defRPr sz="1400">
                <a:solidFill>
                  <a:srgbClr val="333333"/>
                </a:solidFill>
                <a:latin typeface="Meiryo"/>
              </a:defRPr>
            </a:pPr>
            <a:r>
              <a:t>• 靴ひもを結んだり、お箸で小さな豆をつまんだりするのと同じで、歯みがきの技術も時間をかけて身についていくもの。だからこそ、保護者のフォローが大切なんですね。</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混合歯列期の口の中イラスト（でこぼこの歯並び） / 靴ひも結び・お箸と歯みがきを並べた「手先の発達」イラスト</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セクション3：実践アドバイス</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段階的バトンタッチで「卒業」へ</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仕上げ磨きの卒業は、ある日突然やめるのではなく、段階的にお子さんに任せていきましょう。</a:t>
            </a:r>
          </a:p>
          <a:p>
            <a:pPr>
              <a:spcAft>
                <a:spcPts val="800"/>
              </a:spcAft>
              <a:defRPr sz="1400">
                <a:solidFill>
                  <a:srgbClr val="333333"/>
                </a:solidFill>
                <a:latin typeface="Meiryo"/>
              </a:defRPr>
            </a:pPr>
            <a:r>
              <a:t>• 6歳から7歳は、お子さんが磨いた後に毎回仕上げ磨きをしてあげてください。</a:t>
            </a:r>
          </a:p>
          <a:p>
            <a:pPr>
              <a:spcAft>
                <a:spcPts val="800"/>
              </a:spcAft>
              <a:defRPr sz="1400">
                <a:solidFill>
                  <a:srgbClr val="333333"/>
                </a:solidFill>
                <a:latin typeface="Meiryo"/>
              </a:defRPr>
            </a:pPr>
            <a:r>
              <a:t>• 7歳から8歳は、お子さんに任せる日を少しずつ増やして、磨き残しをチェック。</a:t>
            </a:r>
          </a:p>
          <a:p>
            <a:pPr>
              <a:spcAft>
                <a:spcPts val="800"/>
              </a:spcAft>
              <a:defRPr sz="1400">
                <a:solidFill>
                  <a:srgbClr val="333333"/>
                </a:solidFill>
                <a:latin typeface="Meiryo"/>
              </a:defRPr>
            </a:pPr>
            <a:r>
              <a:t>• 8歳から9歳は、基本はお子さんに任せて、週に数回チェックする。</a:t>
            </a:r>
          </a:p>
          <a:p>
            <a:pPr>
              <a:spcAft>
                <a:spcPts val="800"/>
              </a:spcAft>
              <a:defRPr sz="1400">
                <a:solidFill>
                  <a:srgbClr val="333333"/>
                </a:solidFill>
                <a:latin typeface="Meiryo"/>
              </a:defRPr>
            </a:pPr>
            <a:r>
              <a:t>• 9歳以降は、時々お口の中を見てあげる程度でOKです。</a:t>
            </a:r>
          </a:p>
          <a:p>
            <a:pPr>
              <a:spcAft>
                <a:spcPts val="800"/>
              </a:spcAft>
              <a:defRPr sz="1400">
                <a:solidFill>
                  <a:srgbClr val="333333"/>
                </a:solidFill>
                <a:latin typeface="Meiryo"/>
              </a:defRPr>
            </a:pPr>
            <a:r>
              <a:t>• 『上手に磨けてるね』と声をかけながら、できている部分を認めてあげると、お子さんのやる気にもつながりますよ。</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年齢別の関わり方を段階的に表示する表 / 各段階にイラストアイコン（毎回→時々→見守り）</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セクション4：おうちでできること</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フッ素入り歯みがき粉＋染め出し液で楽しく上達</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おうちでは、フッ素入りの歯みがき粉を使うことで汚れを落としながら歯を強くする二重の効果が得られます。</a:t>
            </a:r>
          </a:p>
          <a:p>
            <a:pPr>
              <a:spcAft>
                <a:spcPts val="800"/>
              </a:spcAft>
              <a:defRPr sz="1400">
                <a:solidFill>
                  <a:srgbClr val="333333"/>
                </a:solidFill>
                <a:latin typeface="Meiryo"/>
              </a:defRPr>
            </a:pPr>
            <a:r>
              <a:t>• もうひとつのおすすめは、歯垢の染め出し液。磨き残しに色がついて目で見えるので、お子さん自身が『ここが磨けてなかった！』と気づけます。週に1回くらい、ゲーム感覚で…</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染め出し液を使って歯が赤く染まるイメージイラスト / 「今日は染まっている部分を減らせるかな？」の吹き出し</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7680960" cy="731520"/>
          </a:xfrm>
          <a:prstGeom prst="rect">
            <a:avLst/>
          </a:prstGeom>
          <a:noFill/>
        </p:spPr>
        <p:txBody>
          <a:bodyPr wrap="square">
            <a:spAutoFit/>
          </a:bodyPr>
          <a:lstStyle/>
          <a:p>
            <a:pPr algn="l">
              <a:defRPr sz="2800" b="1">
                <a:solidFill>
                  <a:srgbClr val="FFFFFF"/>
                </a:solidFill>
                <a:latin typeface="Meiryo"/>
              </a:defRPr>
            </a:pPr>
            <a:r>
              <a:t>少しずつバトンタッチ お子さんの成長に合わせて</a:t>
            </a:r>
          </a:p>
        </p:txBody>
      </p:sp>
      <p:sp>
        <p:nvSpPr>
          <p:cNvPr id="4" name="TextBox 3"/>
          <p:cNvSpPr txBox="1"/>
          <p:nvPr/>
        </p:nvSpPr>
        <p:spPr>
          <a:xfrm>
            <a:off x="731520" y="2103120"/>
            <a:ext cx="7680960" cy="1371600"/>
          </a:xfrm>
          <a:prstGeom prst="rect">
            <a:avLst/>
          </a:prstGeom>
          <a:noFill/>
        </p:spPr>
        <p:txBody>
          <a:bodyPr wrap="square">
            <a:spAutoFit/>
          </a:bodyPr>
          <a:lstStyle/>
          <a:p>
            <a:pPr algn="l">
              <a:defRPr sz="1600" b="0">
                <a:solidFill>
                  <a:srgbClr val="CCE8ED"/>
                </a:solidFill>
                <a:latin typeface="Meiryo"/>
              </a:defRPr>
            </a:pPr>
            <a:r>
              <a:t>仕上げ磨きの卒業は、お子さんの成長に合わせてゆっくりと。迷ったときは、かかりつけの歯科医に相談してみてくださいね。</a:t>
            </a:r>
          </a:p>
        </p:txBody>
      </p:sp>
      <p:sp>
        <p:nvSpPr>
          <p:cNvPr id="5" name="TextBox 4"/>
          <p:cNvSpPr txBox="1"/>
          <p:nvPr/>
        </p:nvSpPr>
        <p:spPr>
          <a:xfrm>
            <a:off x="731520" y="3840480"/>
            <a:ext cx="7680960" cy="457200"/>
          </a:xfrm>
          <a:prstGeom prst="rect">
            <a:avLst/>
          </a:prstGeom>
          <a:noFill/>
        </p:spPr>
        <p:txBody>
          <a:bodyPr wrap="square">
            <a:spAutoFit/>
          </a:bodyPr>
          <a:lstStyle/>
          <a:p>
            <a:pPr algn="l">
              <a:defRPr sz="1400" b="1">
                <a:solidFill>
                  <a:srgbClr val="26A69A"/>
                </a:solidFill>
                <a:latin typeface="Meiryo"/>
              </a:defRPr>
            </a:pPr>
            <a:r>
              <a:t>クリニック情報・ご予約はこちら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548640"/>
          </a:xfrm>
          <a:prstGeom prst="rect">
            <a:avLst/>
          </a:prstGeom>
          <a:noFill/>
        </p:spPr>
        <p:txBody>
          <a:bodyPr wrap="square">
            <a:spAutoFit/>
          </a:bodyPr>
          <a:lstStyle/>
          <a:p>
            <a:pPr algn="l">
              <a:defRPr sz="1400" b="1">
                <a:solidFill>
                  <a:srgbClr val="26A69A"/>
                </a:solidFill>
                <a:latin typeface="Meiryo"/>
              </a:defRPr>
            </a:pPr>
            <a:r>
              <a:t>まとめ</a:t>
            </a:r>
          </a:p>
        </p:txBody>
      </p:sp>
      <p:sp>
        <p:nvSpPr>
          <p:cNvPr id="4" name="Rectangle 3"/>
          <p:cNvSpPr/>
          <p:nvPr/>
        </p:nvSpPr>
        <p:spPr>
          <a:xfrm>
            <a:off x="548640" y="1463040"/>
            <a:ext cx="8046720" cy="18288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73152" cy="18288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7498079" cy="365760"/>
          </a:xfrm>
          <a:prstGeom prst="rect">
            <a:avLst/>
          </a:prstGeom>
          <a:noFill/>
        </p:spPr>
        <p:txBody>
          <a:bodyPr wrap="square">
            <a:spAutoFit/>
          </a:bodyPr>
          <a:lstStyle/>
          <a:p>
            <a:pPr algn="l">
              <a:defRPr sz="1200" b="1">
                <a:solidFill>
                  <a:srgbClr val="26A69A"/>
                </a:solidFill>
                <a:latin typeface="Meiryo"/>
              </a:defRPr>
            </a:pPr>
            <a:r>
              <a:t>キーメッセージ</a:t>
            </a:r>
          </a:p>
        </p:txBody>
      </p:sp>
      <p:sp>
        <p:nvSpPr>
          <p:cNvPr id="7" name="TextBox 6"/>
          <p:cNvSpPr txBox="1"/>
          <p:nvPr/>
        </p:nvSpPr>
        <p:spPr>
          <a:xfrm>
            <a:off x="914400" y="1920240"/>
            <a:ext cx="7498079" cy="1188720"/>
          </a:xfrm>
          <a:prstGeom prst="rect">
            <a:avLst/>
          </a:prstGeom>
          <a:noFill/>
        </p:spPr>
        <p:txBody>
          <a:bodyPr wrap="square">
            <a:spAutoFit/>
          </a:bodyPr>
          <a:lstStyle/>
          <a:p>
            <a:pPr algn="l">
              <a:defRPr sz="2000" b="1">
                <a:solidFill>
                  <a:srgbClr val="1B5E7B"/>
                </a:solidFill>
                <a:latin typeface="Meiryo"/>
              </a:defRPr>
            </a:pPr>
            <a:r>
              <a:t>仕上げ磨きは少なくとも8歳頃まで。段階的にバトンタッチして、お子さんの自立を見守りましょう。</a:t>
            </a:r>
          </a:p>
        </p:txBody>
      </p:sp>
      <p:sp>
        <p:nvSpPr>
          <p:cNvPr id="8" name="TextBox 7"/>
          <p:cNvSpPr txBox="1"/>
          <p:nvPr/>
        </p:nvSpPr>
        <p:spPr>
          <a:xfrm>
            <a:off x="731520" y="3840480"/>
            <a:ext cx="7680960" cy="457200"/>
          </a:xfrm>
          <a:prstGeom prst="rect">
            <a:avLst/>
          </a:prstGeom>
          <a:noFill/>
        </p:spPr>
        <p:txBody>
          <a:bodyPr wrap="square">
            <a:spAutoFit/>
          </a:bodyPr>
          <a:lstStyle/>
          <a:p>
            <a:pPr algn="l">
              <a:defRPr sz="1400" b="0">
                <a:solidFill>
                  <a:srgbClr val="555555"/>
                </a:solidFill>
                <a:latin typeface="Meiryo"/>
              </a:defRPr>
            </a:pPr>
            <a:r>
              <a:t>お問い合わせ: クリニック情報・ご予約方法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