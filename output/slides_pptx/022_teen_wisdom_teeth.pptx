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#022</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子どもの親知らず、抜いた方がいいの？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中高生のお子さんを持つ保護者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子どもの親知らず 抜く？残す？</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高校生の子どもの検診で、親知らずがあると言われました。</a:t>
            </a:r>
            <a:br/>
            <a:r>
              <a:t>"早めに抜いた方がいい"と聞くこともあるんですが、</a:t>
            </a:r>
            <a:br/>
            <a:r>
              <a:t>本当に抜いた方がいいんでしょうか？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「今すぐ抜く・抜かない」を決めなくて大丈夫</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結論からお伝えすると、親知らずは"見つかったらすぐ抜く"ものではありません。</a:t>
            </a:r>
          </a:p>
          <a:p>
            <a:pPr>
              <a:spcAft>
                <a:spcPts val="800"/>
              </a:spcAft>
              <a:defRPr sz="1400">
                <a:solidFill>
                  <a:srgbClr val="333333"/>
                </a:solidFill>
                <a:latin typeface="Meiryo"/>
              </a:defRPr>
            </a:pPr>
            <a:r>
              <a:t>• 実は、世界的に最も信頼性の高い研究でも、症状のない親知らずを予防的に抜くべきかどうかはまだ結論が出ていないんです。</a:t>
            </a:r>
          </a:p>
          <a:p>
            <a:pPr>
              <a:spcAft>
                <a:spcPts val="800"/>
              </a:spcAft>
              <a:defRPr sz="1400">
                <a:solidFill>
                  <a:srgbClr val="333333"/>
                </a:solidFill>
                <a:latin typeface="Meiryo"/>
              </a:defRPr>
            </a:pPr>
            <a:r>
              <a:t>• つまり、"抜くか抜かないか"を今すぐ決める必要はありません。</a:t>
            </a:r>
          </a:p>
          <a:p>
            <a:pPr>
              <a:spcAft>
                <a:spcPts val="800"/>
              </a:spcAft>
              <a:defRPr sz="1400">
                <a:solidFill>
                  <a:srgbClr val="333333"/>
                </a:solidFill>
                <a:latin typeface="Meiryo"/>
              </a:defRPr>
            </a:pPr>
            <a:r>
              <a:t>• 大切なのは、定期的に状態をチェックして、お子さんの成長に合わせて歯医者さんと一緒に判断していくことです。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「抜く？」「残す？」の二択表示 → 「定期チェックで見守る」に切り替え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セクション2：親知らずのリスクと判断のポイント</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リスクがゼロではないから、定期チェックが大切</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ただし、親知らずにリスクがないわけではありません。</a:t>
            </a:r>
          </a:p>
          <a:p>
            <a:pPr>
              <a:spcAft>
                <a:spcPts val="800"/>
              </a:spcAft>
              <a:defRPr sz="1400">
                <a:solidFill>
                  <a:srgbClr val="333333"/>
                </a:solidFill>
                <a:latin typeface="Meiryo"/>
              </a:defRPr>
            </a:pPr>
            <a:r>
              <a:t>• まず、親知らずは一番奥に生える歯なので、あごの中にスペースが足りず、まっすぐ生えてこられないことがよくあります。斜めに生えたり、骨の中に埋まったままだったりする…</a:t>
            </a:r>
          </a:p>
          <a:p>
            <a:pPr>
              <a:spcAft>
                <a:spcPts val="800"/>
              </a:spcAft>
              <a:defRPr sz="1400">
                <a:solidFill>
                  <a:srgbClr val="333333"/>
                </a:solidFill>
                <a:latin typeface="Meiryo"/>
              </a:defRPr>
            </a:pPr>
            <a:r>
              <a:t>• そうすると、歯ぐきが腫れて痛みが出たり、手前の大切な奥歯にむし歯や歯周病を引き起こしてしまうことがあります。</a:t>
            </a:r>
          </a:p>
          <a:p>
            <a:pPr>
              <a:spcAft>
                <a:spcPts val="800"/>
              </a:spcAft>
              <a:defRPr sz="1400">
                <a:solidFill>
                  <a:srgbClr val="333333"/>
                </a:solidFill>
                <a:latin typeface="Meiryo"/>
              </a:defRPr>
            </a:pPr>
            <a:r>
              <a:t>• 特に、斜めに傾いている親知らずは歯ぐきの炎症が起きやすいことが研究でもわかっています。</a:t>
            </a:r>
          </a:p>
          <a:p>
            <a:pPr>
              <a:spcAft>
                <a:spcPts val="800"/>
              </a:spcAft>
              <a:defRPr sz="1400">
                <a:solidFill>
                  <a:srgbClr val="333333"/>
                </a:solidFill>
                <a:latin typeface="Meiryo"/>
              </a:defRPr>
            </a:pPr>
            <a:r>
              <a:t>• 一方で、完全に埋まっていて何も症状がない場合や、まっすぐ生えていてきちんと磨ける場合は、すぐに抜かなくても大丈夫なことが多いです。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親知らずの生え方パターン（まっすぐ・斜め・横向き）のイラスト / 「抜歯検討」「経過観察」の対比表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15歳前後からレントゲンで確認を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親知らずは、17歳から25歳ごろに生えてくることが多いですが、15歳前後にはレントゲンであごの中に親知らずがあるかどうかを確認できます。</a:t>
            </a:r>
          </a:p>
          <a:p>
            <a:pPr>
              <a:spcAft>
                <a:spcPts val="800"/>
              </a:spcAft>
              <a:defRPr sz="1400">
                <a:solidFill>
                  <a:srgbClr val="333333"/>
                </a:solidFill>
                <a:latin typeface="Meiryo"/>
              </a:defRPr>
            </a:pPr>
            <a:r>
              <a:t>• ですので、中学生から高校生のうちに定期検診でレントゲンを撮ってもらい、親知らずの有無や向きを把握しておくことが大切です。</a:t>
            </a:r>
          </a:p>
          <a:p>
            <a:pPr>
              <a:spcAft>
                <a:spcPts val="800"/>
              </a:spcAft>
              <a:defRPr sz="1400">
                <a:solidFill>
                  <a:srgbClr val="333333"/>
                </a:solidFill>
                <a:latin typeface="Meiryo"/>
              </a:defRPr>
            </a:pPr>
            <a:r>
              <a:t>• もし抜歯が必要になった場合は、若いうちの方があごの骨がやわらかく、回復も早い傾向があります。先延ばしにしすぎないことも一つのポイントです。</a:t>
            </a:r>
          </a:p>
          <a:p>
            <a:pPr>
              <a:spcAft>
                <a:spcPts val="800"/>
              </a:spcAft>
              <a:defRPr sz="1400">
                <a:solidFill>
                  <a:srgbClr val="333333"/>
                </a:solidFill>
                <a:latin typeface="Meiryo"/>
              </a:defRPr>
            </a:pPr>
            <a:r>
              <a:t>• また、奥歯の周りの歯ぐきが腫れたり、口が開きにくくなったり、痛みが出たりした場合は、定期検診を待たずに早めに受診してください。</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レントゲン写真のイメージイラスト / 「こんな症状が出たら受診を」のチェックリスト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年に1〜2回の検診で親知らずも見守ろう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おうちで大切なのは、年に1〜2回の定期検診を続けることです。</a:t>
            </a:r>
          </a:p>
          <a:p>
            <a:pPr>
              <a:spcAft>
                <a:spcPts val="800"/>
              </a:spcAft>
              <a:defRPr sz="1400">
                <a:solidFill>
                  <a:srgbClr val="333333"/>
                </a:solidFill>
                <a:latin typeface="Meiryo"/>
              </a:defRPr>
            </a:pPr>
            <a:r>
              <a:t>• 親知らずの状態は時間とともに変わることがあるので、"前回は問題なかったから大丈夫"とは限りません。</a:t>
            </a:r>
          </a:p>
          <a:p>
            <a:pPr>
              <a:spcAft>
                <a:spcPts val="800"/>
              </a:spcAft>
              <a:defRPr sz="1400">
                <a:solidFill>
                  <a:srgbClr val="333333"/>
                </a:solidFill>
                <a:latin typeface="Meiryo"/>
              </a:defRPr>
            </a:pPr>
            <a:r>
              <a:t>• "抜く・抜かない"で悩むのではなく、かかりつけの歯医者さんと一緒にお子さんの成長を見守っていきましょう。</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カレンダーのイラスト（定期検診のスケジュールイメージ）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親知らずは焦らず、歯医者さんと一緒に判断を</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親知らずは、"今すぐどうするか"を決める必要はありません。定期的なチェックで状態を把握して、お子さんに合ったタイミングで判断していきましょう。</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親知らずは今すぐ抜く・抜かないを決めなくていい。定期検診で見守り、適切なタイミングで判断を。</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