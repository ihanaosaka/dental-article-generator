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828800" cy="548640"/>
          </a:xfrm>
          <a:prstGeom prst="rect">
            <a:avLst/>
          </a:prstGeom>
          <a:noFill/>
        </p:spPr>
        <p:txBody>
          <a:bodyPr wrap="square">
            <a:spAutoFit/>
          </a:bodyPr>
          <a:lstStyle/>
          <a:p>
            <a:pPr algn="l">
              <a:defRPr sz="2000" b="1">
                <a:solidFill>
                  <a:srgbClr val="26A69A"/>
                </a:solidFill>
                <a:latin typeface="Meiryo"/>
              </a:defRPr>
            </a:pPr>
            <a:r>
              <a:t>#017</a:t>
            </a:r>
          </a:p>
        </p:txBody>
      </p:sp>
      <p:sp>
        <p:nvSpPr>
          <p:cNvPr id="4" name="TextBox 3"/>
          <p:cNvSpPr txBox="1"/>
          <p:nvPr/>
        </p:nvSpPr>
        <p:spPr>
          <a:xfrm>
            <a:off x="731520" y="1645920"/>
            <a:ext cx="7680960" cy="1371600"/>
          </a:xfrm>
          <a:prstGeom prst="rect">
            <a:avLst/>
          </a:prstGeom>
          <a:noFill/>
        </p:spPr>
        <p:txBody>
          <a:bodyPr wrap="square">
            <a:spAutoFit/>
          </a:bodyPr>
          <a:lstStyle/>
          <a:p>
            <a:pPr algn="l">
              <a:defRPr sz="3200" b="1">
                <a:solidFill>
                  <a:srgbClr val="FFFFFF"/>
                </a:solidFill>
                <a:latin typeface="Meiryo"/>
              </a:defRPr>
            </a:pPr>
            <a:r>
              <a:t>キシリトールガムって本当にむし歯予防になるの？</a:t>
            </a:r>
          </a:p>
        </p:txBody>
      </p:sp>
      <p:sp>
        <p:nvSpPr>
          <p:cNvPr id="5" name="TextBox 4"/>
          <p:cNvSpPr txBox="1"/>
          <p:nvPr/>
        </p:nvSpPr>
        <p:spPr>
          <a:xfrm>
            <a:off x="731520" y="3291840"/>
            <a:ext cx="7680960" cy="457200"/>
          </a:xfrm>
          <a:prstGeom prst="rect">
            <a:avLst/>
          </a:prstGeom>
          <a:noFill/>
        </p:spPr>
        <p:txBody>
          <a:bodyPr wrap="square">
            <a:spAutoFit/>
          </a:bodyPr>
          <a:lstStyle/>
          <a:p>
            <a:pPr algn="l">
              <a:defRPr sz="1400" b="0">
                <a:solidFill>
                  <a:srgbClr val="B0D0D8"/>
                </a:solidFill>
                <a:latin typeface="Meiryo"/>
              </a:defRPr>
            </a:pPr>
            <a:r>
              <a:t>対象: 小学生のお子さんを持つ保護者  |  約2分50秒</a:t>
            </a:r>
          </a:p>
        </p:txBody>
      </p:sp>
      <p:sp>
        <p:nvSpPr>
          <p:cNvPr id="6" name="Rectangle 5"/>
          <p:cNvSpPr/>
          <p:nvPr/>
        </p:nvSpPr>
        <p:spPr>
          <a:xfrm>
            <a:off x="731520" y="3931920"/>
            <a:ext cx="1828800" cy="36576"/>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オープニング</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800" b="1">
                <a:solidFill>
                  <a:srgbClr val="1B5E7B"/>
                </a:solidFill>
                <a:latin typeface="Meiryo"/>
              </a:defRPr>
            </a:pPr>
            <a:r>
              <a:t>キシリトールガム 本当にむし歯予防になる？</a:t>
            </a:r>
          </a:p>
        </p:txBody>
      </p:sp>
      <p:sp>
        <p:nvSpPr>
          <p:cNvPr id="5" name="Rectangle 4"/>
          <p:cNvSpPr/>
          <p:nvPr/>
        </p:nvSpPr>
        <p:spPr>
          <a:xfrm>
            <a:off x="548640" y="1828800"/>
            <a:ext cx="8046720" cy="22860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73152" cy="2286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7498079" cy="365760"/>
          </a:xfrm>
          <a:prstGeom prst="rect">
            <a:avLst/>
          </a:prstGeom>
          <a:noFill/>
        </p:spPr>
        <p:txBody>
          <a:bodyPr wrap="square">
            <a:spAutoFit/>
          </a:bodyPr>
          <a:lstStyle/>
          <a:p>
            <a:pPr algn="l">
              <a:defRPr sz="1200" b="1">
                <a:solidFill>
                  <a:srgbClr val="26A69A"/>
                </a:solidFill>
                <a:latin typeface="Meiryo"/>
              </a:defRPr>
            </a:pPr>
            <a:r>
              <a:t>視聴者からの質問</a:t>
            </a:r>
          </a:p>
        </p:txBody>
      </p:sp>
      <p:sp>
        <p:nvSpPr>
          <p:cNvPr id="8" name="TextBox 7"/>
          <p:cNvSpPr txBox="1"/>
          <p:nvPr/>
        </p:nvSpPr>
        <p:spPr>
          <a:xfrm>
            <a:off x="914400" y="2286000"/>
            <a:ext cx="7498079" cy="1645920"/>
          </a:xfrm>
          <a:prstGeom prst="rect">
            <a:avLst/>
          </a:prstGeom>
          <a:noFill/>
        </p:spPr>
        <p:txBody>
          <a:bodyPr wrap="square">
            <a:spAutoFit/>
          </a:bodyPr>
          <a:lstStyle/>
          <a:p>
            <a:pPr algn="l">
              <a:defRPr sz="1800" b="0">
                <a:solidFill>
                  <a:srgbClr val="333333"/>
                </a:solidFill>
                <a:latin typeface="Meiryo"/>
              </a:defRPr>
            </a:pPr>
            <a:r>
              <a:t>子どもがキシリトールガムを噛みたがるんですが、</a:t>
            </a:r>
            <a:br/>
            <a:r>
              <a:t>本当にむし歯予防になるんですか？</a:t>
            </a:r>
            <a:br/>
            <a:r>
              <a:t>ガムを噛んでいれば歯みがきしなくてもいいの？</a:t>
            </a:r>
            <a:br/>
            <a:r>
              <a:t>と聞かれて、ちょっと困っています……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セクション1：結論から</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キシリトールは「プラスワン」の予防策</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結論からお伝えすると、キシリトールガムにはむし歯予防の効果が期待できます。ただし、歯みがきの代わりにはなりません。</a:t>
            </a:r>
          </a:p>
          <a:p>
            <a:pPr>
              <a:spcAft>
                <a:spcPts val="800"/>
              </a:spcAft>
              <a:defRPr sz="1400">
                <a:solidFill>
                  <a:srgbClr val="333333"/>
                </a:solidFill>
                <a:latin typeface="Meiryo"/>
              </a:defRPr>
            </a:pPr>
            <a:r>
              <a:t>• 砂糖不使用のガムを噛む習慣があると、むし歯の発生が約28%減るという複数の研究をまとめた報告があります。</a:t>
            </a:r>
          </a:p>
          <a:p>
            <a:pPr>
              <a:spcAft>
                <a:spcPts val="800"/>
              </a:spcAft>
              <a:defRPr sz="1400">
                <a:solidFill>
                  <a:srgbClr val="333333"/>
                </a:solidFill>
                <a:latin typeface="Meiryo"/>
              </a:defRPr>
            </a:pPr>
            <a:r>
              <a:t>• キシリトールには、それに加えてむし歯菌の活動を抑える力もあるとされています。</a:t>
            </a:r>
          </a:p>
          <a:p>
            <a:pPr>
              <a:spcAft>
                <a:spcPts val="800"/>
              </a:spcAft>
              <a:defRPr sz="1400">
                <a:solidFill>
                  <a:srgbClr val="333333"/>
                </a:solidFill>
                <a:latin typeface="Meiryo"/>
              </a:defRPr>
            </a:pPr>
            <a:r>
              <a:t>• ですから、キシリトールガムは歯みがきや食習慣の管理に『プラスする』もの。それだけで安心、というものではないんです。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「約28%むし歯減少」のテロップを強調表示 / 「基本の予防 ＋ キシリトール」の図解</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セクション2：なぜキシリトールが注目されるの？</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むし歯菌にとって「空っぽの食事」</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キシリトールが注目される理由は2つあります。</a:t>
            </a:r>
          </a:p>
          <a:p>
            <a:pPr>
              <a:spcAft>
                <a:spcPts val="800"/>
              </a:spcAft>
              <a:defRPr sz="1400">
                <a:solidFill>
                  <a:srgbClr val="333333"/>
                </a:solidFill>
                <a:latin typeface="Meiryo"/>
              </a:defRPr>
            </a:pPr>
            <a:r>
              <a:t>• 1つ目は、ガムを噛むと唾液がたくさん出ること。唾液には、むし歯菌が出す酸を中和したり、溶けかけた歯を修復したりする力があります。これは砂糖不使用のガム全般に言え…</a:t>
            </a:r>
          </a:p>
          <a:p>
            <a:pPr>
              <a:spcAft>
                <a:spcPts val="800"/>
              </a:spcAft>
              <a:defRPr sz="1400">
                <a:solidFill>
                  <a:srgbClr val="333333"/>
                </a:solidFill>
                <a:latin typeface="Meiryo"/>
              </a:defRPr>
            </a:pPr>
            <a:r>
              <a:t>• 2つ目が、キシリトールならではの力。むし歯の原因になるミュータンス菌は、砂糖をエサにして酸を出し、歯を溶かします。</a:t>
            </a:r>
          </a:p>
          <a:p>
            <a:pPr>
              <a:spcAft>
                <a:spcPts val="800"/>
              </a:spcAft>
              <a:defRPr sz="1400">
                <a:solidFill>
                  <a:srgbClr val="333333"/>
                </a:solidFill>
                <a:latin typeface="Meiryo"/>
              </a:defRPr>
            </a:pPr>
            <a:r>
              <a:t>• ところがキシリトールは、ミュータンス菌が取り込んでも栄養にできない物質なんです。菌はエネルギーを無駄遣いしてしまい、増殖が抑えられると考えられています。</a:t>
            </a:r>
          </a:p>
          <a:p>
            <a:pPr>
              <a:spcAft>
                <a:spcPts val="800"/>
              </a:spcAft>
              <a:defRPr sz="1400">
                <a:solidFill>
                  <a:srgbClr val="333333"/>
                </a:solidFill>
                <a:latin typeface="Meiryo"/>
              </a:defRPr>
            </a:pPr>
            <a:r>
              <a:t>• いわば、むし歯菌にとっては食べても栄養にならない『空っぽの食事』。これがキシリトールならではの特長です。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唾液の3つの力（酸の中和・再石灰化・洗浄）をアイコンで表示 / ミュータンス菌がキシリトールを食べても元気が出ないイラスト</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セクション3：実践アドバイス</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キシリトールガムの上手な選び方・使い方</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キシリトールガムを選ぶときは、甘味料にキシリトールが50%以上含まれている製品を選ぶのがポイントです。パッケージの成分表示を確認してみてくださいね。</a:t>
            </a:r>
          </a:p>
          <a:p>
            <a:pPr>
              <a:spcAft>
                <a:spcPts val="800"/>
              </a:spcAft>
              <a:defRPr sz="1400">
                <a:solidFill>
                  <a:srgbClr val="333333"/>
                </a:solidFill>
                <a:latin typeface="Meiryo"/>
              </a:defRPr>
            </a:pPr>
            <a:r>
              <a:t>• 噛むタイミングは食後がベスト。食後は口の中の細菌が活発に酸を出すので、このとき唾液をたっぷり出すのが効果的です。</a:t>
            </a:r>
          </a:p>
          <a:p>
            <a:pPr>
              <a:spcAft>
                <a:spcPts val="800"/>
              </a:spcAft>
              <a:defRPr sz="1400">
                <a:solidFill>
                  <a:srgbClr val="333333"/>
                </a:solidFill>
                <a:latin typeface="Meiryo"/>
              </a:defRPr>
            </a:pPr>
            <a:r>
              <a:t>• 味がなくなっても5分から10分は噛み続けて、1日3回、毎食後を目安にしてみましょう。</a:t>
            </a:r>
          </a:p>
          <a:p>
            <a:pPr>
              <a:spcAft>
                <a:spcPts val="800"/>
              </a:spcAft>
              <a:defRPr sz="1400">
                <a:solidFill>
                  <a:srgbClr val="333333"/>
                </a:solidFill>
                <a:latin typeface="Meiryo"/>
              </a:defRPr>
            </a:pPr>
            <a:r>
              <a:t>• ただし、大切なのは基本の3つ。フッ素入り歯みがき粉で朝と夜の歯みがき、甘いものはだらだら食べず時間を決める、そして定期的な歯科検診。キシリトールはこの基本への『…</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キシリトールガムの選び方チェックリスト / 「基本の3つ＋キシリトール」をピラミッド型で表示</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セクション4：おうちでできること</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「食後のガム」を家族の習慣に</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おうちでは、食後にキシリトールガムを噛む習慣を家族みんなで始めてみてはいかがでしょうか。</a:t>
            </a:r>
          </a:p>
          <a:p>
            <a:pPr>
              <a:spcAft>
                <a:spcPts val="800"/>
              </a:spcAft>
              <a:defRPr sz="1400">
                <a:solidFill>
                  <a:srgbClr val="333333"/>
                </a:solidFill>
                <a:latin typeface="Meiryo"/>
              </a:defRPr>
            </a:pPr>
            <a:r>
              <a:t>• まだガムが上手に噛めないお子さんにはタブレットタイプもあります。小さいお子さんの場合は飲み込みに注意して、見守りながら使ってくださいね。</a:t>
            </a:r>
          </a:p>
          <a:p>
            <a:pPr>
              <a:spcAft>
                <a:spcPts val="800"/>
              </a:spcAft>
              <a:defRPr sz="1400">
                <a:solidFill>
                  <a:srgbClr val="333333"/>
                </a:solidFill>
                <a:latin typeface="Meiryo"/>
              </a:defRPr>
            </a:pPr>
            <a:r>
              <a:t>• もちろん、仕上げ磨きもお忘れなく。低学年のうちはまだ必要ですよ。</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家族で食後にガムを噛むイラスト / タブレットタイプの製品イメージ</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7680960" cy="731520"/>
          </a:xfrm>
          <a:prstGeom prst="rect">
            <a:avLst/>
          </a:prstGeom>
          <a:noFill/>
        </p:spPr>
        <p:txBody>
          <a:bodyPr wrap="square">
            <a:spAutoFit/>
          </a:bodyPr>
          <a:lstStyle/>
          <a:p>
            <a:pPr algn="l">
              <a:defRPr sz="2800" b="1">
                <a:solidFill>
                  <a:srgbClr val="FFFFFF"/>
                </a:solidFill>
                <a:latin typeface="Meiryo"/>
              </a:defRPr>
            </a:pPr>
            <a:r>
              <a:t>基本の予防＋キシリトールで賢くむし歯予防</a:t>
            </a:r>
          </a:p>
        </p:txBody>
      </p:sp>
      <p:sp>
        <p:nvSpPr>
          <p:cNvPr id="4" name="TextBox 3"/>
          <p:cNvSpPr txBox="1"/>
          <p:nvPr/>
        </p:nvSpPr>
        <p:spPr>
          <a:xfrm>
            <a:off x="731520" y="2103120"/>
            <a:ext cx="7680960" cy="1371600"/>
          </a:xfrm>
          <a:prstGeom prst="rect">
            <a:avLst/>
          </a:prstGeom>
          <a:noFill/>
        </p:spPr>
        <p:txBody>
          <a:bodyPr wrap="square">
            <a:spAutoFit/>
          </a:bodyPr>
          <a:lstStyle/>
          <a:p>
            <a:pPr algn="l">
              <a:defRPr sz="1600" b="0">
                <a:solidFill>
                  <a:srgbClr val="CCE8ED"/>
                </a:solidFill>
                <a:latin typeface="Meiryo"/>
              </a:defRPr>
            </a:pPr>
            <a:r>
              <a:t>キシリトールガムは、基本の予防をしっかりしたうえでの『もうひと押し』。上手に取り入れて、お子さんの歯を一緒に守っていきましょう。</a:t>
            </a:r>
          </a:p>
        </p:txBody>
      </p:sp>
      <p:sp>
        <p:nvSpPr>
          <p:cNvPr id="5" name="TextBox 4"/>
          <p:cNvSpPr txBox="1"/>
          <p:nvPr/>
        </p:nvSpPr>
        <p:spPr>
          <a:xfrm>
            <a:off x="731520" y="3840480"/>
            <a:ext cx="7680960" cy="457200"/>
          </a:xfrm>
          <a:prstGeom prst="rect">
            <a:avLst/>
          </a:prstGeom>
          <a:noFill/>
        </p:spPr>
        <p:txBody>
          <a:bodyPr wrap="square">
            <a:spAutoFit/>
          </a:bodyPr>
          <a:lstStyle/>
          <a:p>
            <a:pPr algn="l">
              <a:defRPr sz="1400" b="1">
                <a:solidFill>
                  <a:srgbClr val="26A69A"/>
                </a:solidFill>
                <a:latin typeface="Meiryo"/>
              </a:defRPr>
            </a:pPr>
            <a:r>
              <a:t>クリニック情報・ご予約はこちら</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7680960" cy="548640"/>
          </a:xfrm>
          <a:prstGeom prst="rect">
            <a:avLst/>
          </a:prstGeom>
          <a:noFill/>
        </p:spPr>
        <p:txBody>
          <a:bodyPr wrap="square">
            <a:spAutoFit/>
          </a:bodyPr>
          <a:lstStyle/>
          <a:p>
            <a:pPr algn="l">
              <a:defRPr sz="1400" b="1">
                <a:solidFill>
                  <a:srgbClr val="26A69A"/>
                </a:solidFill>
                <a:latin typeface="Meiryo"/>
              </a:defRPr>
            </a:pPr>
            <a:r>
              <a:t>まとめ</a:t>
            </a:r>
          </a:p>
        </p:txBody>
      </p:sp>
      <p:sp>
        <p:nvSpPr>
          <p:cNvPr id="4" name="Rectangle 3"/>
          <p:cNvSpPr/>
          <p:nvPr/>
        </p:nvSpPr>
        <p:spPr>
          <a:xfrm>
            <a:off x="548640" y="1463040"/>
            <a:ext cx="8046720" cy="18288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73152" cy="18288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7498079" cy="365760"/>
          </a:xfrm>
          <a:prstGeom prst="rect">
            <a:avLst/>
          </a:prstGeom>
          <a:noFill/>
        </p:spPr>
        <p:txBody>
          <a:bodyPr wrap="square">
            <a:spAutoFit/>
          </a:bodyPr>
          <a:lstStyle/>
          <a:p>
            <a:pPr algn="l">
              <a:defRPr sz="1200" b="1">
                <a:solidFill>
                  <a:srgbClr val="26A69A"/>
                </a:solidFill>
                <a:latin typeface="Meiryo"/>
              </a:defRPr>
            </a:pPr>
            <a:r>
              <a:t>キーメッセージ</a:t>
            </a:r>
          </a:p>
        </p:txBody>
      </p:sp>
      <p:sp>
        <p:nvSpPr>
          <p:cNvPr id="7" name="TextBox 6"/>
          <p:cNvSpPr txBox="1"/>
          <p:nvPr/>
        </p:nvSpPr>
        <p:spPr>
          <a:xfrm>
            <a:off x="914400" y="1920240"/>
            <a:ext cx="7498079" cy="1188720"/>
          </a:xfrm>
          <a:prstGeom prst="rect">
            <a:avLst/>
          </a:prstGeom>
          <a:noFill/>
        </p:spPr>
        <p:txBody>
          <a:bodyPr wrap="square">
            <a:spAutoFit/>
          </a:bodyPr>
          <a:lstStyle/>
          <a:p>
            <a:pPr algn="l">
              <a:defRPr sz="2000" b="1">
                <a:solidFill>
                  <a:srgbClr val="1B5E7B"/>
                </a:solidFill>
                <a:latin typeface="Meiryo"/>
              </a:defRPr>
            </a:pPr>
            <a:r>
              <a:t>キシリトールガムはむし歯予防の『プラスワン』。歯みがき・食習慣・定期検診の基本があってこそ活きる。</a:t>
            </a:r>
          </a:p>
        </p:txBody>
      </p:sp>
      <p:sp>
        <p:nvSpPr>
          <p:cNvPr id="8" name="TextBox 7"/>
          <p:cNvSpPr txBox="1"/>
          <p:nvPr/>
        </p:nvSpPr>
        <p:spPr>
          <a:xfrm>
            <a:off x="731520" y="3840480"/>
            <a:ext cx="7680960" cy="457200"/>
          </a:xfrm>
          <a:prstGeom prst="rect">
            <a:avLst/>
          </a:prstGeom>
          <a:noFill/>
        </p:spPr>
        <p:txBody>
          <a:bodyPr wrap="square">
            <a:spAutoFit/>
          </a:bodyPr>
          <a:lstStyle/>
          <a:p>
            <a:pPr algn="l">
              <a:defRPr sz="1400" b="0">
                <a:solidFill>
                  <a:srgbClr val="555555"/>
                </a:solidFill>
                <a:latin typeface="Meiryo"/>
              </a:defRPr>
            </a:pPr>
            <a:r>
              <a:t>お問い合わせ: クリニック情報・ご予約方法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