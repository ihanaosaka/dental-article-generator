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#026</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おしゃぶりは歯並びに影響するの？ いつまでに卒業すればいい？</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乳幼児のおしゃぶり使用が気になる保護者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おしゃぶりと歯並び</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1歳半の子がおしゃぶりを使っています。</a:t>
            </a:r>
            <a:br/>
            <a:r>
              <a:t>歯並びに悪いと聞いて心配なのですが、</a:t>
            </a:r>
            <a:br/>
            <a:r>
              <a:t>いつまでに卒業させればいいですか？</a:t>
            </a:r>
            <a:br/>
            <a:r>
              <a:t>矯正用おしゃぶりなら大丈夫ですか……？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おしゃぶり自体は悪くない。大事なのは「いつまで使うか」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結論からお伝えすると、おしゃぶりを使うこと自体は悪いことではありません。</a:t>
            </a:r>
          </a:p>
          <a:p>
            <a:pPr>
              <a:spcAft>
                <a:spcPts val="800"/>
              </a:spcAft>
              <a:defRPr sz="1400">
                <a:solidFill>
                  <a:srgbClr val="333333"/>
                </a:solidFill>
                <a:latin typeface="Meiryo"/>
              </a:defRPr>
            </a:pPr>
            <a:r>
              <a:t>• 赤ちゃんにとって『吸う』ことは本能的な行動で、心の安定にもつながっています。</a:t>
            </a:r>
          </a:p>
          <a:p>
            <a:pPr>
              <a:spcAft>
                <a:spcPts val="800"/>
              </a:spcAft>
              <a:defRPr sz="1400">
                <a:solidFill>
                  <a:srgbClr val="333333"/>
                </a:solidFill>
                <a:latin typeface="Meiryo"/>
              </a:defRPr>
            </a:pPr>
            <a:r>
              <a:t>• ただし、長期間使い続けると歯並びに影響が出る可能性があります。</a:t>
            </a:r>
          </a:p>
          <a:p>
            <a:pPr>
              <a:spcAft>
                <a:spcPts val="800"/>
              </a:spcAft>
              <a:defRPr sz="1400">
                <a:solidFill>
                  <a:srgbClr val="333333"/>
                </a:solidFill>
                <a:latin typeface="Meiryo"/>
              </a:defRPr>
            </a:pPr>
            <a:r>
              <a:t>• 目安としては、2歳頃までに卒業できると安心です。1歳半頃から少しずつ使う回数を減らしていくのがおすすめですよ。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タイムラインのイラスト（1歳半 → 減らす → 2歳で卒業）</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セクション2：長く使い続けるとどうなるの？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「期間」が長いほどリスクが上がる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複数の大規模な研究で繰り返し確認されているのは、おしゃぶりや指しゃぶりを長く続けるほど、歯並びへの影響が大きくなるということです。</a:t>
            </a:r>
          </a:p>
          <a:p>
            <a:pPr>
              <a:spcAft>
                <a:spcPts val="800"/>
              </a:spcAft>
              <a:defRPr sz="1400">
                <a:solidFill>
                  <a:srgbClr val="333333"/>
                </a:solidFill>
                <a:latin typeface="Meiryo"/>
              </a:defRPr>
            </a:pPr>
            <a:r>
              <a:t>• 具体的には、前歯がかみ合わなくなる状態、いわゆる出っ歯、奥歯のかみ合わせのずれなどが起こりやすくなります。</a:t>
            </a:r>
          </a:p>
          <a:p>
            <a:pPr>
              <a:spcAft>
                <a:spcPts val="800"/>
              </a:spcAft>
              <a:defRPr sz="1400">
                <a:solidFill>
                  <a:srgbClr val="333333"/>
                </a:solidFill>
                <a:latin typeface="Meiryo"/>
              </a:defRPr>
            </a:pPr>
            <a:r>
              <a:t>• 使い続けた『期間』と1日あたりの『時間』が長いほどリスクが上がることもわかっています。</a:t>
            </a:r>
          </a:p>
          <a:p>
            <a:pPr>
              <a:spcAft>
                <a:spcPts val="800"/>
              </a:spcAft>
              <a:defRPr sz="1400">
                <a:solidFill>
                  <a:srgbClr val="333333"/>
                </a:solidFill>
                <a:latin typeface="Meiryo"/>
              </a:defRPr>
            </a:pPr>
            <a:r>
              <a:t>• 逆に言えば、早い段階でやめることができれば、歯並びへの影響は限定的です。</a:t>
            </a:r>
          </a:p>
          <a:p>
            <a:pPr>
              <a:spcAft>
                <a:spcPts val="800"/>
              </a:spcAft>
              <a:defRPr sz="1400">
                <a:solidFill>
                  <a:srgbClr val="333333"/>
                </a:solidFill>
                <a:latin typeface="Meiryo"/>
              </a:defRPr>
            </a:pPr>
            <a:r>
              <a:t>• 『使ったこと自体』よりも『いつまで使い続けたか』のほうがずっと大切なんですね。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使用期間と影響の関係を示すシンプルなグラフイメージ / 「期間 &gt; 種類」の比較アイコン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セクション3：実践アドバイス——卒業のステップ</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段階的に減らすのがコツ</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おしゃぶりの卒業は、段階的に進めるのがポイントです。</a:t>
            </a:r>
          </a:p>
          <a:p>
            <a:pPr>
              <a:spcAft>
                <a:spcPts val="800"/>
              </a:spcAft>
              <a:defRPr sz="1400">
                <a:solidFill>
                  <a:srgbClr val="333333"/>
                </a:solidFill>
                <a:latin typeface="Meiryo"/>
              </a:defRPr>
            </a:pPr>
            <a:r>
              <a:t>• まず、日中の使用を減らすことから始めましょう。遊びに集中しているときはおしゃぶりなしで過ごせることが多いはずです。</a:t>
            </a:r>
          </a:p>
          <a:p>
            <a:pPr>
              <a:spcAft>
                <a:spcPts val="800"/>
              </a:spcAft>
              <a:defRPr sz="1400">
                <a:solidFill>
                  <a:srgbClr val="333333"/>
                </a:solidFill>
                <a:latin typeface="Meiryo"/>
              </a:defRPr>
            </a:pPr>
            <a:r>
              <a:t>• 次に、寝かしつけのときだけに限定します。</a:t>
            </a:r>
          </a:p>
          <a:p>
            <a:pPr>
              <a:spcAft>
                <a:spcPts val="800"/>
              </a:spcAft>
              <a:defRPr sz="1400">
                <a:solidFill>
                  <a:srgbClr val="333333"/>
                </a:solidFill>
                <a:latin typeface="Meiryo"/>
              </a:defRPr>
            </a:pPr>
            <a:r>
              <a:t>• そして、おしゃぶりの代わりにお気に入りのぬいぐるみやタオルなど、安心できるものを用意してあげてください。</a:t>
            </a:r>
          </a:p>
          <a:p>
            <a:pPr>
              <a:spcAft>
                <a:spcPts val="800"/>
              </a:spcAft>
              <a:defRPr sz="1400">
                <a:solidFill>
                  <a:srgbClr val="333333"/>
                </a:solidFill>
                <a:latin typeface="Meiryo"/>
              </a:defRPr>
            </a:pPr>
            <a:r>
              <a:t>• おしゃぶりなしで過ごせたらしっかりほめてあげることも大切です。</a:t>
            </a:r>
          </a:p>
          <a:p>
            <a:pPr>
              <a:spcAft>
                <a:spcPts val="800"/>
              </a:spcAft>
              <a:defRPr sz="1400">
                <a:solidFill>
                  <a:srgbClr val="333333"/>
                </a:solidFill>
                <a:latin typeface="Meiryo"/>
              </a:defRPr>
            </a:pPr>
            <a:r>
              <a:t>• 叱ったり、無理に取り上げたりするとかえって執着が強くなることがあるので、お子さんのペースを大切にしてくださいね。</a:t>
            </a:r>
          </a:p>
          <a:p>
            <a:pPr>
              <a:spcAft>
                <a:spcPts val="800"/>
              </a:spcAft>
              <a:defRPr sz="1400">
                <a:solidFill>
                  <a:srgbClr val="333333"/>
                </a:solidFill>
                <a:latin typeface="Meiryo"/>
              </a:defRPr>
            </a:pPr>
            <a:r>
              <a:t>• ちなみに、矯正用おしゃぶりについてですが、従来のものと比べて歯並びへの影響を防げるという十分な根拠は今のところ得られていません。種類よりも使用期間の管理が大切で…</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ステップ1〜3をやさしいイラストで段階表示 / 「ほめる」のポジティブなアイコン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3歳過ぎても続く場合は相談を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3歳を過ぎてもおしゃぶりが続いている場合は、一度、小児歯科で歯並びをチェックしてもらいましょう。</a:t>
            </a:r>
          </a:p>
          <a:p>
            <a:pPr>
              <a:spcAft>
                <a:spcPts val="800"/>
              </a:spcAft>
              <a:defRPr sz="1400">
                <a:solidFill>
                  <a:srgbClr val="333333"/>
                </a:solidFill>
                <a:latin typeface="Meiryo"/>
              </a:defRPr>
            </a:pPr>
            <a:r>
              <a:t>• ただし、焦る必要はありません。この段階で変化が見られても、卒業とともに自然に改善するケースも多くあります。</a:t>
            </a:r>
          </a:p>
          <a:p>
            <a:pPr>
              <a:spcAft>
                <a:spcPts val="800"/>
              </a:spcAft>
              <a:defRPr sz="1400">
                <a:solidFill>
                  <a:srgbClr val="333333"/>
                </a:solidFill>
                <a:latin typeface="Meiryo"/>
              </a:defRPr>
            </a:pPr>
            <a:r>
              <a:t>• 気になったら、まずはお気軽にご相談くださいね。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歯科医院での笑顔のチェックイメージ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2歳頃の卒業を目標に ゆっくり進めましょう</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おしゃぶりは赤ちゃんの味方です。使うことに罪悪感を感じる必要はありません。</a:t>
            </a:r>
            <a:br/>
            <a:r>
              <a:t>2歳頃の卒業を目標に、無理なく進めていきましょう。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おしゃぶり自体は悪くない。2歳頃までの卒業を目標に、段階的に減らしていこう。</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